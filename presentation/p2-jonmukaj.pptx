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1" r:id="rId5"/>
    <p:sldId id="263" r:id="rId6"/>
    <p:sldId id="264" r:id="rId7"/>
    <p:sldId id="266" r:id="rId8"/>
    <p:sldId id="267" r:id="rId9"/>
    <p:sldId id="258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DBEAFE"/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4578" autoAdjust="0"/>
  </p:normalViewPr>
  <p:slideViewPr>
    <p:cSldViewPr snapToGrid="0" snapToObjects="1">
      <p:cViewPr varScale="1">
        <p:scale>
          <a:sx n="152" d="100"/>
          <a:sy n="152" d="100"/>
        </p:scale>
        <p:origin x="7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86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2D5FC-C4D3-91E4-E8EE-D351F3F3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C5432-54F3-B97C-9955-125662535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FE8A5-795A-6769-4533-AD9BAF695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CE4DD-6BC6-CEC5-9C34-75012115B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79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9601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Training Operator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auto-tuned distributed ML training on Kubernetes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542032"/>
            <a:ext cx="79552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Mukaj</a:t>
            </a:r>
            <a:endParaRPr lang="en-US" sz="1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FA553B7-36AF-108F-CB50-F1442889AB89}"/>
              </a:ext>
            </a:extLst>
          </p:cNvPr>
          <p:cNvSpPr/>
          <p:nvPr/>
        </p:nvSpPr>
        <p:spPr>
          <a:xfrm>
            <a:off x="594360" y="31973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7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24013D0-1F53-07CF-9FF1-A1490FBF2613}"/>
              </a:ext>
            </a:extLst>
          </p:cNvPr>
          <p:cNvSpPr/>
          <p:nvPr/>
        </p:nvSpPr>
        <p:spPr>
          <a:xfrm>
            <a:off x="594360" y="3571303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Enes </a:t>
            </a:r>
            <a:r>
              <a:rPr lang="en-US" sz="1700" b="1" dirty="0" err="1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Bajrovic</a:t>
            </a: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B955C462-68D3-D89F-1080-4193AA99725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Distributed Training by Hand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1: fine-tuning LLM with distributed </a:t>
            </a:r>
            <a:r>
              <a:rPr lang="en-US" sz="1500" i="1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5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GKE — every run required 5 manual commands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pool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container node-pools create …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4884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028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402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5856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856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baseline-pytorchjob.yaml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0332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9476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620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862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448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job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0448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…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4924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4068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3212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3212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040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+ collect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040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cp master-pod:/… results/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9516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7804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7804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9632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pool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632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container node-pools delete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3961" y="3218688"/>
            <a:ext cx="4846320" cy="1256348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800" y="327783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633787"/>
            <a:ext cx="4572000" cy="74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overhead per run: provision the node pool, wait for training to finish, collect results, delete the pool — all by hand</a:t>
            </a:r>
            <a:endParaRPr lang="en-US" sz="10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runs and no strategy for deciding node count — N is guessed, not computed from time or cost objectives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2834640"/>
            <a:ext cx="3108960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23560" y="29260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 all of this?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565E9648-5EB0-9D2F-6FA6-488AF4A5366D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distributed-training-operator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50976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1207008" cy="329184"/>
          </a:xfrm>
          <a:prstGeom prst="rect">
            <a:avLst/>
          </a:prstGeom>
          <a:solidFill>
            <a:srgbClr val="7BA7F5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73352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64792" y="1024128"/>
            <a:ext cx="1207008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64792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63240" y="1024128"/>
            <a:ext cx="1207008" cy="329184"/>
          </a:xfrm>
          <a:prstGeom prst="rect">
            <a:avLst/>
          </a:prstGeom>
          <a:solidFill>
            <a:srgbClr val="A5F3C0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61688" y="1024128"/>
            <a:ext cx="1207008" cy="329184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1688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68696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0136" y="1024128"/>
            <a:ext cx="1207008" cy="329184"/>
          </a:xfrm>
          <a:prstGeom prst="rect">
            <a:avLst/>
          </a:prstGeom>
          <a:solidFill>
            <a:srgbClr val="FCA5A5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0136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67144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58584" y="1024128"/>
            <a:ext cx="1207008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58584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463040"/>
            <a:ext cx="77724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3000" y="1490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once by admin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737360"/>
            <a:ext cx="27432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1783080"/>
            <a:ext cx="2606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controller-manager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distributed-training-system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image: jmukaj/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distributed-training-operator:latest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command: [/manager]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args: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--leader-elect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--health-probe-bind-address=:8081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--cloud-provider=gke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--gcp-project=praktikum2-494215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--gcp-location=us-east1-d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--cluster-name=praktikum2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--default-cpu-machine-type=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e2-standard-4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--machine-costs-configmap=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machine-costs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--node-service-account=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gke-cluster-sa@...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0" y="1463040"/>
            <a:ext cx="7772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0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23360" y="1490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— applied per training run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1737360"/>
            <a:ext cx="27432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1783080"/>
            <a:ext cx="2606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training.distributedjob.io/v1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DistributedTraining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distributedjob-obj-a3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 pytorch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hardware: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cpu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machineType</a:t>
            </a: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c4-highcpu-8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topology: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nodes: 3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processesPerNode</a:t>
            </a: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BEE-spoke-data/smol_llama-101M-GQA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epochs: 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batchSize: 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learningRate: "2e-5"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ddpBackend: gloo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outputPVCName: distributed-training-output-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80760" y="1463040"/>
            <a:ext cx="77724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03720" y="1490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writes back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BD4FE85A-B222-BB55-4C4F-7382BAEFAE1D}"/>
              </a:ext>
            </a:extLst>
          </p:cNvPr>
          <p:cNvSpPr/>
          <p:nvPr/>
        </p:nvSpPr>
        <p:spPr>
          <a:xfrm>
            <a:off x="6080760" y="1763185"/>
            <a:ext cx="27432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149340" y="1743289"/>
            <a:ext cx="2606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……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phase: Succeeded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startTime: "2026-06-01T17:41:26Z"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trainingStartTime: "2026-06-01T17:43:29Z"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finishTime: "2026-06-01T17:53:12Z"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resolvedTopology: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nodes: 7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masterReplicas: 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workerReplicas: 6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estimatedTime: 9m13s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estimatedCost: "0.4327"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trainingTime: 9m9s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provisioningTime: 1m22s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estimatedCostUSD: "0.4294"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collectionTime: 4s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loss: "1.5835"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perplexity: "4.8720"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samplesPerSecond: "63.80"</a:t>
            </a:r>
            <a:endParaRPr lang="en-US" sz="7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D3E106A0-2E6D-1F7F-528D-2F0E684D17B3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Comparison: Baseline vs Operator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2" y="1187254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Chip0"/>
          <p:cNvSpPr>
            <a:spLocks noGrp="1"/>
          </p:cNvSpPr>
          <p:nvPr/>
        </p:nvSpPr>
        <p:spPr>
          <a:xfrm>
            <a:off x="320042" y="1141534"/>
            <a:ext cx="1430888" cy="384048"/>
          </a:xfrm>
          <a:prstGeom prst="roundRect">
            <a:avLst>
              <a:gd name="adj" fmla="val 2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 Google Cloud GKE</a:t>
            </a:r>
          </a:p>
        </p:txBody>
      </p:sp>
      <p:sp>
        <p:nvSpPr>
          <p:cNvPr id="31" name="Chip1"/>
          <p:cNvSpPr>
            <a:spLocks noGrp="1"/>
          </p:cNvSpPr>
          <p:nvPr/>
        </p:nvSpPr>
        <p:spPr>
          <a:xfrm>
            <a:off x="1860658" y="1141534"/>
            <a:ext cx="1734410" cy="384048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smol_llama-101M-GQA model</a:t>
            </a:r>
          </a:p>
        </p:txBody>
      </p:sp>
      <p:sp>
        <p:nvSpPr>
          <p:cNvPr id="32" name="Chip2"/>
          <p:cNvSpPr>
            <a:spLocks noGrp="1"/>
          </p:cNvSpPr>
          <p:nvPr/>
        </p:nvSpPr>
        <p:spPr>
          <a:xfrm>
            <a:off x="3704796" y="1141534"/>
            <a:ext cx="1777770" cy="384048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medalpaca / medical flashcards dataset</a:t>
            </a:r>
          </a:p>
        </p:txBody>
      </p:sp>
      <p:sp>
        <p:nvSpPr>
          <p:cNvPr id="33" name="Chip3"/>
          <p:cNvSpPr>
            <a:spLocks noGrp="1"/>
          </p:cNvSpPr>
          <p:nvPr/>
        </p:nvSpPr>
        <p:spPr>
          <a:xfrm>
            <a:off x="5592294" y="1141534"/>
            <a:ext cx="1691050" cy="384048"/>
          </a:xfrm>
          <a:prstGeom prst="roundRect">
            <a:avLst>
              <a:gd name="adj" fmla="val 2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c4-highcpu-8  ·  $0.42 / hr / node</a:t>
            </a:r>
          </a:p>
        </p:txBody>
      </p:sp>
      <p:sp>
        <p:nvSpPr>
          <p:cNvPr id="34" name="Chip4"/>
          <p:cNvSpPr>
            <a:spLocks noGrp="1"/>
          </p:cNvSpPr>
          <p:nvPr/>
        </p:nvSpPr>
        <p:spPr>
          <a:xfrm>
            <a:off x="7393072" y="1141534"/>
            <a:ext cx="1430888" cy="384048"/>
          </a:xfrm>
          <a:prstGeom prst="roundRect">
            <a:avLst>
              <a:gd name="adj" fmla="val 2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B-2: 2 nodes   /   B-3: 3 nodes</a:t>
            </a:r>
          </a:p>
        </p:txBody>
      </p:sp>
      <p:sp>
        <p:nvSpPr>
          <p:cNvPr id="21" name="CompSnippet"/>
          <p:cNvSpPr>
            <a:spLocks noGrp="1"/>
          </p:cNvSpPr>
          <p:nvPr/>
        </p:nvSpPr>
        <p:spPr>
          <a:xfrm>
            <a:off x="350518" y="3632670"/>
            <a:ext cx="8503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/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</a:rPr>
              <a:t>Key results vs baseline:</a:t>
            </a:r>
          </a:p>
          <a:p>
            <a:pPr marL="228600" indent="-228600">
              <a:spcBef>
                <a:spcPts val="80"/>
              </a:spcBef>
              <a:buChar char="•"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</a:rPr>
              <a:t>5 commands per run  →  1 kubectl apply   (5× fewer human steps, same GKE infrastructure)</a:t>
            </a:r>
          </a:p>
          <a:p>
            <a:pPr marL="228600" indent="-228600">
              <a:spcBef>
                <a:spcPts val="80"/>
              </a:spcBef>
              <a:buFontTx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Training time nearly identical between manual baseline and operator runs</a:t>
            </a:r>
            <a:endParaRPr lang="en-US" sz="1100" dirty="0">
              <a:solidFill>
                <a:srgbClr val="059669"/>
              </a:solidFill>
              <a:latin typeface="Calibri" pitchFamily="34" charset="0"/>
            </a:endParaRPr>
          </a:p>
          <a:p>
            <a:pPr marL="228600" indent="-228600">
              <a:spcBef>
                <a:spcPts val="80"/>
              </a:spcBef>
              <a:buChar char="•"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</a:rPr>
              <a:t>Training quality identical — same eval loss and perplexity at matched node count</a:t>
            </a:r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99CFB-B942-29FA-4F65-549D497D0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8" y="1214686"/>
            <a:ext cx="232286" cy="232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EB4076-205D-2AF0-8FEF-262C302D6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5" y="1853320"/>
            <a:ext cx="9018396" cy="14368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EA40DB-6B76-EDDD-AE7C-B5758EA93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480" y="3635132"/>
            <a:ext cx="3053080" cy="955196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7B82B20D-1E0A-1992-D298-8E0A720A3572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220000"/>
            <a:ext cx="85039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Tuner: Auto-Selecting Node Count from History</a:t>
            </a:r>
            <a:endParaRPr lang="en-US" sz="2800" dirty="0"/>
          </a:p>
        </p:txBody>
      </p:sp>
      <p:sp>
        <p:nvSpPr>
          <p:cNvPr id="3" name="Divider"/>
          <p:cNvSpPr/>
          <p:nvPr/>
        </p:nvSpPr>
        <p:spPr>
          <a:xfrm>
            <a:off x="320040" y="748000"/>
            <a:ext cx="8503920" cy="20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Hdr"/>
          <p:cNvSpPr/>
          <p:nvPr/>
        </p:nvSpPr>
        <p:spPr>
          <a:xfrm>
            <a:off x="133973" y="2593500"/>
            <a:ext cx="40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5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 Steps</a:t>
            </a:r>
            <a:endParaRPr lang="en-US" sz="875" dirty="0"/>
          </a:p>
        </p:txBody>
      </p:sp>
      <p:sp>
        <p:nvSpPr>
          <p:cNvPr id="5" name="RightHdr"/>
          <p:cNvSpPr/>
          <p:nvPr/>
        </p:nvSpPr>
        <p:spPr>
          <a:xfrm>
            <a:off x="4527837" y="2813500"/>
            <a:ext cx="4263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5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DistributedTrainingHistory CR  —  written by operator after each run</a:t>
            </a:r>
            <a:endParaRPr lang="en-US" sz="875" dirty="0"/>
          </a:p>
        </p:txBody>
      </p:sp>
      <p:sp>
        <p:nvSpPr>
          <p:cNvPr id="6" name="StepBg1"/>
          <p:cNvSpPr/>
          <p:nvPr/>
        </p:nvSpPr>
        <p:spPr>
          <a:xfrm>
            <a:off x="133973" y="2813500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Badge1"/>
          <p:cNvSpPr/>
          <p:nvPr/>
        </p:nvSpPr>
        <p:spPr>
          <a:xfrm>
            <a:off x="133973" y="2813500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epNum1"/>
          <p:cNvSpPr/>
          <p:nvPr/>
        </p:nvSpPr>
        <p:spPr>
          <a:xfrm>
            <a:off x="133973" y="2813500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tepTitle1"/>
          <p:cNvSpPr/>
          <p:nvPr/>
        </p:nvSpPr>
        <p:spPr>
          <a:xfrm>
            <a:off x="493973" y="2838500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History</a:t>
            </a:r>
            <a:endParaRPr lang="en-US" sz="1050" dirty="0"/>
          </a:p>
        </p:txBody>
      </p:sp>
      <p:sp>
        <p:nvSpPr>
          <p:cNvPr id="10" name="StepDesc1"/>
          <p:cNvSpPr/>
          <p:nvPr/>
        </p:nvSpPr>
        <p:spPr>
          <a:xfrm>
            <a:off x="493973" y="3033500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DistributedTrainingHistory</a:t>
            </a: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entries matching config hash; group by node count, find average throughput P per node count.</a:t>
            </a:r>
            <a:endParaRPr lang="en-US" sz="875" dirty="0"/>
          </a:p>
        </p:txBody>
      </p:sp>
      <p:sp>
        <p:nvSpPr>
          <p:cNvPr id="11" name="StepBg2"/>
          <p:cNvSpPr/>
          <p:nvPr/>
        </p:nvSpPr>
        <p:spPr>
          <a:xfrm>
            <a:off x="133973" y="3378500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Badge2"/>
          <p:cNvSpPr/>
          <p:nvPr/>
        </p:nvSpPr>
        <p:spPr>
          <a:xfrm>
            <a:off x="133973" y="3378500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epNum2"/>
          <p:cNvSpPr/>
          <p:nvPr/>
        </p:nvSpPr>
        <p:spPr>
          <a:xfrm>
            <a:off x="133973" y="3378500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tepTitle2"/>
          <p:cNvSpPr/>
          <p:nvPr/>
        </p:nvSpPr>
        <p:spPr>
          <a:xfrm>
            <a:off x="493973" y="3403500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Base Rate</a:t>
            </a:r>
            <a:endParaRPr lang="en-US" sz="1050" dirty="0"/>
          </a:p>
        </p:txBody>
      </p:sp>
      <p:sp>
        <p:nvSpPr>
          <p:cNvPr id="15" name="StepDesc2"/>
          <p:cNvSpPr/>
          <p:nvPr/>
        </p:nvSpPr>
        <p:spPr>
          <a:xfrm>
            <a:off x="493973" y="3598500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single node throughput P0,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TotalWork</a:t>
            </a: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n_min</a:t>
            </a: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average time to provision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nodepool</a:t>
            </a:r>
            <a:endParaRPr lang="en-US" sz="875" dirty="0"/>
          </a:p>
        </p:txBody>
      </p:sp>
      <p:sp>
        <p:nvSpPr>
          <p:cNvPr id="16" name="StepBg3"/>
          <p:cNvSpPr/>
          <p:nvPr/>
        </p:nvSpPr>
        <p:spPr>
          <a:xfrm>
            <a:off x="133973" y="3992784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Badge3"/>
          <p:cNvSpPr/>
          <p:nvPr/>
        </p:nvSpPr>
        <p:spPr>
          <a:xfrm>
            <a:off x="133568" y="3992784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Num3"/>
          <p:cNvSpPr/>
          <p:nvPr/>
        </p:nvSpPr>
        <p:spPr>
          <a:xfrm>
            <a:off x="117713" y="3986595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tepTitle3"/>
          <p:cNvSpPr/>
          <p:nvPr/>
        </p:nvSpPr>
        <p:spPr>
          <a:xfrm>
            <a:off x="477036" y="4001547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α (Scaling Overhead)</a:t>
            </a:r>
            <a:endParaRPr lang="en-US" sz="1050" dirty="0"/>
          </a:p>
        </p:txBody>
      </p:sp>
      <p:sp>
        <p:nvSpPr>
          <p:cNvPr id="20" name="StepDesc3"/>
          <p:cNvSpPr/>
          <p:nvPr/>
        </p:nvSpPr>
        <p:spPr>
          <a:xfrm>
            <a:off x="467559" y="4186547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decay η(n)=1/(1+α(n-1)). Closed-form for 2 distinct counts; golden-section search for 3+ distinct counts minimizing sum of squared residuals.</a:t>
            </a:r>
            <a:endParaRPr lang="en-US" sz="875" dirty="0"/>
          </a:p>
        </p:txBody>
      </p:sp>
      <p:sp>
        <p:nvSpPr>
          <p:cNvPr id="21" name="StepBg4"/>
          <p:cNvSpPr/>
          <p:nvPr/>
        </p:nvSpPr>
        <p:spPr>
          <a:xfrm>
            <a:off x="133973" y="4573728"/>
            <a:ext cx="4020000" cy="569771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Badge4"/>
          <p:cNvSpPr/>
          <p:nvPr/>
        </p:nvSpPr>
        <p:spPr>
          <a:xfrm>
            <a:off x="133568" y="4567577"/>
            <a:ext cx="307982" cy="56496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Num4"/>
          <p:cNvSpPr/>
          <p:nvPr/>
        </p:nvSpPr>
        <p:spPr>
          <a:xfrm>
            <a:off x="100098" y="4551595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tepTitle4"/>
          <p:cNvSpPr/>
          <p:nvPr/>
        </p:nvSpPr>
        <p:spPr>
          <a:xfrm>
            <a:off x="467559" y="4577317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Optimal Number of Nodes </a:t>
            </a:r>
            <a:endParaRPr lang="en-US" sz="1050" dirty="0"/>
          </a:p>
        </p:txBody>
      </p:sp>
      <p:sp>
        <p:nvSpPr>
          <p:cNvPr id="25" name="StepDesc4"/>
          <p:cNvSpPr/>
          <p:nvPr/>
        </p:nvSpPr>
        <p:spPr>
          <a:xfrm>
            <a:off x="475020" y="4737810"/>
            <a:ext cx="3652539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Time(n) and Cost(n) per candidate count; pick smallest n meeting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targetTime</a:t>
            </a: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largest n within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maxCost</a:t>
            </a:r>
            <a:endParaRPr lang="en-US" sz="875" dirty="0"/>
          </a:p>
        </p:txBody>
      </p:sp>
      <p:sp>
        <p:nvSpPr>
          <p:cNvPr id="26" name="YamlBox"/>
          <p:cNvSpPr/>
          <p:nvPr/>
        </p:nvSpPr>
        <p:spPr>
          <a:xfrm>
            <a:off x="4531943" y="3022332"/>
            <a:ext cx="4263920" cy="197424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YamlText"/>
          <p:cNvSpPr/>
          <p:nvPr/>
        </p:nvSpPr>
        <p:spPr>
          <a:xfrm>
            <a:off x="4567894" y="3055832"/>
            <a:ext cx="4111902" cy="18887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apiVersion: training.distributedtraining.io/v1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kind: DistributedTrainingHistory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metadata: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labels: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config-hash: 57c363d8...997d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name: djh-disttraining-cal-3node-kpbfz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spec: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backend: pytorch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configHash: 57c363d8...997d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machineType: c4-highcpu-8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nodes: 3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provisioningSeconds: '82'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throughput: 26270793037n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totalWork: '27164'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trainingSeconds: '1034'</a:t>
            </a:r>
          </a:p>
        </p:txBody>
      </p:sp>
      <p:sp>
        <p:nvSpPr>
          <p:cNvPr id="28" name="PageNum"/>
          <p:cNvSpPr/>
          <p:nvPr/>
        </p:nvSpPr>
        <p:spPr>
          <a:xfrm>
            <a:off x="8503920" y="4900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51" name="DiagLabel"/>
          <p:cNvSpPr/>
          <p:nvPr/>
        </p:nvSpPr>
        <p:spPr>
          <a:xfrm>
            <a:off x="220040" y="809320"/>
            <a:ext cx="85039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Shift: from static node count to declaring an objective</a:t>
            </a:r>
            <a:endParaRPr lang="en-US" sz="950" dirty="0"/>
          </a:p>
        </p:txBody>
      </p:sp>
      <p:sp>
        <p:nvSpPr>
          <p:cNvPr id="52" name="BeforeBg"/>
          <p:cNvSpPr/>
          <p:nvPr/>
        </p:nvSpPr>
        <p:spPr>
          <a:xfrm>
            <a:off x="220040" y="1102263"/>
            <a:ext cx="3800000" cy="142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eforeHdr"/>
          <p:cNvSpPr/>
          <p:nvPr/>
        </p:nvSpPr>
        <p:spPr>
          <a:xfrm>
            <a:off x="220040" y="1073088"/>
            <a:ext cx="3800000" cy="280000"/>
          </a:xfrm>
          <a:prstGeom prst="round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BeforeHdrTxt"/>
          <p:cNvSpPr/>
          <p:nvPr/>
        </p:nvSpPr>
        <p:spPr>
          <a:xfrm>
            <a:off x="248247" y="1060000"/>
            <a:ext cx="36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Static Node Count</a:t>
            </a:r>
            <a:endParaRPr lang="en-US" sz="1000" dirty="0"/>
          </a:p>
        </p:txBody>
      </p:sp>
      <p:sp>
        <p:nvSpPr>
          <p:cNvPr id="55" name="BeforeCode"/>
          <p:cNvSpPr/>
          <p:nvPr/>
        </p:nvSpPr>
        <p:spPr>
          <a:xfrm>
            <a:off x="268247" y="1390000"/>
            <a:ext cx="36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spec: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topology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nodes: 3       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backend: </a:t>
            </a:r>
            <a:r>
              <a:rPr lang="en-US" sz="750" dirty="0" err="1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pytorch</a:t>
            </a:r>
            <a:endParaRPr lang="en-US" sz="750" dirty="0">
              <a:solidFill>
                <a:srgbClr val="374151"/>
              </a:solidFill>
              <a:latin typeface="Consolas" pitchFamily="49" charset="0"/>
              <a:ea typeface="Consolas" pitchFamily="49" charset="-122"/>
              <a:cs typeface="Consolas" pitchFamily="49" charset="-120"/>
            </a:endParaRPr>
          </a:p>
          <a:p>
            <a:pPr marL="0" indent="0" algn="l">
              <a:lnSpc>
                <a:spcPts val="875"/>
              </a:lnSpc>
              <a:buNone/>
            </a:pPr>
            <a:endParaRPr lang="en-US" sz="750" dirty="0">
              <a:solidFill>
                <a:srgbClr val="374151"/>
              </a:solidFill>
              <a:latin typeface="Consolas" pitchFamily="49" charset="0"/>
              <a:ea typeface="Consolas" pitchFamily="49" charset="-122"/>
              <a:cs typeface="Consolas" pitchFamily="49" charset="-120"/>
            </a:endParaRP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# no memory between runs</a:t>
            </a:r>
          </a:p>
        </p:txBody>
      </p:sp>
      <p:sp>
        <p:nvSpPr>
          <p:cNvPr id="56" name="BeforeCap"/>
          <p:cNvSpPr/>
          <p:nvPr/>
        </p:nvSpPr>
        <p:spPr>
          <a:xfrm>
            <a:off x="248247" y="2220000"/>
            <a:ext cx="364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picks N; operator runs with that exact count.</a:t>
            </a:r>
            <a:endParaRPr lang="en-US" sz="825" b="1" dirty="0"/>
          </a:p>
        </p:txBody>
      </p:sp>
      <p:sp>
        <p:nvSpPr>
          <p:cNvPr id="58" name="ArrowBox"/>
          <p:cNvSpPr/>
          <p:nvPr/>
        </p:nvSpPr>
        <p:spPr>
          <a:xfrm>
            <a:off x="4137036" y="1453941"/>
            <a:ext cx="600000" cy="500000"/>
          </a:xfrm>
          <a:prstGeom prst="rightArrow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AfterBg"/>
          <p:cNvSpPr/>
          <p:nvPr/>
        </p:nvSpPr>
        <p:spPr>
          <a:xfrm>
            <a:off x="4879982" y="1075019"/>
            <a:ext cx="3803920" cy="142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AfterHdr"/>
          <p:cNvSpPr/>
          <p:nvPr/>
        </p:nvSpPr>
        <p:spPr>
          <a:xfrm>
            <a:off x="4879982" y="1075019"/>
            <a:ext cx="3803920" cy="280000"/>
          </a:xfrm>
          <a:prstGeom prst="round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AfterHdrTxt"/>
          <p:cNvSpPr/>
          <p:nvPr/>
        </p:nvSpPr>
        <p:spPr>
          <a:xfrm>
            <a:off x="4959982" y="1075019"/>
            <a:ext cx="3643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Declare an Objective</a:t>
            </a:r>
            <a:endParaRPr lang="en-US" sz="1000" dirty="0"/>
          </a:p>
        </p:txBody>
      </p:sp>
      <p:sp>
        <p:nvSpPr>
          <p:cNvPr id="62" name="AfterCode"/>
          <p:cNvSpPr/>
          <p:nvPr/>
        </p:nvSpPr>
        <p:spPr>
          <a:xfrm>
            <a:off x="4979982" y="1405019"/>
            <a:ext cx="360392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spec: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objective: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targetTime: "10m"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maxCost:    “1“ // $ as currency spent for whole run 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maxNodes:   10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...</a:t>
            </a:r>
          </a:p>
        </p:txBody>
      </p:sp>
      <p:sp>
        <p:nvSpPr>
          <p:cNvPr id="63" name="AfterCap"/>
          <p:cNvSpPr/>
          <p:nvPr/>
        </p:nvSpPr>
        <p:spPr>
          <a:xfrm>
            <a:off x="4979982" y="2234219"/>
            <a:ext cx="36439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infers N from history; satisfies objective automatically.</a:t>
            </a:r>
            <a:endParaRPr lang="en-US" sz="825" b="1" dirty="0"/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7C9D5BEE-4C76-540F-48FE-F118FE294DD8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 Accuracy: Prediction Converges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4327" y="2511361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A1: 3.3% — tuner fitted from only 2 calibration points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A2: 2% — alpha refitted with 3rd history entry. Faster than predicted time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A3: 2.5% — error increase; but lower number of nodes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B: 3.8% — different objective, similar prediction error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6118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used: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3822192"/>
            <a:ext cx="1965960" cy="896112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384048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Objective A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targetTime: "10m"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maxCost: “10"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maxNodes: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3822192"/>
            <a:ext cx="1965960" cy="896112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384048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Objective B (tighter)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targetTime: "7m"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maxCost: "10"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maxNodes: 15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8313CF-CA44-D7D6-66E8-E110AC9E6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10" y="1194354"/>
            <a:ext cx="4450684" cy="11508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7C9775-9F79-7CC2-7352-180B94C15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435" y="1194354"/>
            <a:ext cx="4390125" cy="11087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E7BC9B-F710-5E2A-FD7E-892A8BC9F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550804"/>
            <a:ext cx="4526280" cy="2115582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5F643E9B-01AB-6EF9-50CE-1708CDC27894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124712"/>
            <a:ext cx="85039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24712"/>
            <a:ext cx="5486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247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with zero quality cost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reproduces baseline training exactly (loss, perplexity, throughput) while reducing the per-run workflow from 5 commands to 1.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85039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5486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922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939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declares a time/cost objective; tuner computes number of nodes from historical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59736"/>
            <a:ext cx="85039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459736"/>
            <a:ext cx="5486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45973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1852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Objective-driven 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788267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calibrations give around-3% loss in time prediction. It stabilizes as history grows.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55848"/>
            <a:ext cx="850392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459346"/>
            <a:ext cx="2076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776472"/>
            <a:ext cx="2743200" cy="86868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Constant-α model assumption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serial fraction does not capture non-linear scaling at high node counts. </a:t>
            </a:r>
            <a:r>
              <a:rPr lang="en-US" sz="9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piecewise or per-N model would extend the accurate range.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27832" y="3776472"/>
            <a:ext cx="2743200" cy="86868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9272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time absorbed into 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HuggingFace evaluation is fixed overhead folded into the scaling fit; </a:t>
            </a:r>
            <a:r>
              <a:rPr lang="en-US" sz="9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separate T_eval term would sharpen predictions.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35624" y="3776472"/>
            <a:ext cx="2743200" cy="86868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27064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cloud provider and backend validated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GKE </a:t>
            </a:r>
            <a:r>
              <a:rPr lang="en-US" sz="9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nodepools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implemented and measured. </a:t>
            </a:r>
            <a:r>
              <a:rPr lang="en-US" sz="9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EKS/AKS and alternative backends such as </a:t>
            </a:r>
            <a:r>
              <a:rPr lang="en-US" sz="95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SparkJobs</a:t>
            </a:r>
            <a:r>
              <a:rPr lang="en-US" sz="9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planned but not yet implemented.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18809731-E0D6-BA64-4370-38B1C2AD9A3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0"/>
          <p:cNvSpPr/>
          <p:nvPr/>
        </p:nvSpPr>
        <p:spPr>
          <a:xfrm>
            <a:off x="1005840" y="253223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overhead model improves with use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944368"/>
            <a:ext cx="79552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0906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github.com/JonMukaj/distributed-training-operator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Mukaj  ·  Praktikum 2  ·  Supervisor: Prof. Enes Bajrovic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Kubernetes Operator?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9098" y="1459733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Kubernetes manages built-in resources (Pods, Services, Deployments). Operators extend it with custom types and operational logic.</a:t>
            </a:r>
          </a:p>
        </p:txBody>
      </p:sp>
      <p:sp>
        <p:nvSpPr>
          <p:cNvPr id="5" name="Text 3"/>
          <p:cNvSpPr/>
          <p:nvPr/>
        </p:nvSpPr>
        <p:spPr>
          <a:xfrm>
            <a:off x="182881" y="2291184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extend the Kubernetes API by introducing new resource types (CRDs) the cluster understands natively.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/>
              <a:t>A CRD defines the schema for a custom resource,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desired state (spec) and observed state (status).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(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 object) watches those resources and runs a reconcile loop, observe actual state, compare to desired, act to close the gap.</a:t>
            </a:r>
            <a:endParaRPr lang="en-US" sz="1200" dirty="0"/>
          </a:p>
        </p:txBody>
      </p:sp>
      <p:pic>
        <p:nvPicPr>
          <p:cNvPr id="6" name="Image 0" descr="/sessions/exciting-loving-carson/mnt/praktikum2/graphic_what-are-kubernetes-opera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425614"/>
            <a:ext cx="4632960" cy="20585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3653626"/>
            <a:ext cx="4206240" cy="384048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63440" y="3653626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+ Controller = Operator Pattern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0D28-B791-DBE6-DBCD-843258F1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D93C63-A39D-B4AC-C441-5823227A03FF}"/>
              </a:ext>
            </a:extLst>
          </p:cNvPr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Solver Works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62E801-2DFB-6C3C-03B5-901F1D492338}"/>
              </a:ext>
            </a:extLst>
          </p:cNvPr>
          <p:cNvSpPr/>
          <p:nvPr/>
        </p:nvSpPr>
        <p:spPr>
          <a:xfrm>
            <a:off x="502920" y="932688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FDD543-020B-A86E-A603-B2BA26EE54F8}"/>
              </a:ext>
            </a:extLst>
          </p:cNvPr>
          <p:cNvSpPr/>
          <p:nvPr/>
        </p:nvSpPr>
        <p:spPr>
          <a:xfrm>
            <a:off x="320040" y="1051560"/>
            <a:ext cx="8503920" cy="850392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5CE5A0-E61B-AD0C-A71E-E50B6420CC35}"/>
              </a:ext>
            </a:extLst>
          </p:cNvPr>
          <p:cNvSpPr/>
          <p:nvPr/>
        </p:nvSpPr>
        <p:spPr>
          <a:xfrm>
            <a:off x="320040" y="1051560"/>
            <a:ext cx="502920" cy="850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B3055E-AA84-61A4-152B-37637B2A97D8}"/>
              </a:ext>
            </a:extLst>
          </p:cNvPr>
          <p:cNvSpPr/>
          <p:nvPr/>
        </p:nvSpPr>
        <p:spPr>
          <a:xfrm>
            <a:off x="320040" y="1051560"/>
            <a:ext cx="502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C96E7CA-2049-11AA-D6FA-E85CC7C24CD5}"/>
              </a:ext>
            </a:extLst>
          </p:cNvPr>
          <p:cNvSpPr/>
          <p:nvPr/>
        </p:nvSpPr>
        <p:spPr>
          <a:xfrm>
            <a:off x="914400" y="1106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history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AAA716-4E1E-A7CD-D243-DB8CA81B568D}"/>
              </a:ext>
            </a:extLst>
          </p:cNvPr>
          <p:cNvSpPr/>
          <p:nvPr/>
        </p:nvSpPr>
        <p:spPr>
          <a:xfrm>
            <a:off x="914400" y="13624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DistributedJobHistory entries for this workload (same config hash). Group by node count N, average throughput P_k per group.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1E8AB75-01E6-2730-1C78-146D1D18B83A}"/>
              </a:ext>
            </a:extLst>
          </p:cNvPr>
          <p:cNvSpPr/>
          <p:nvPr/>
        </p:nvSpPr>
        <p:spPr>
          <a:xfrm>
            <a:off x="320040" y="1956816"/>
            <a:ext cx="8503920" cy="850392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843DB91-234D-C4F0-F767-8858B4E4EA86}"/>
              </a:ext>
            </a:extLst>
          </p:cNvPr>
          <p:cNvSpPr/>
          <p:nvPr/>
        </p:nvSpPr>
        <p:spPr>
          <a:xfrm>
            <a:off x="320040" y="1956816"/>
            <a:ext cx="502920" cy="850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F78F5F-07B2-18CA-55A7-FB49AB081A52}"/>
              </a:ext>
            </a:extLst>
          </p:cNvPr>
          <p:cNvSpPr/>
          <p:nvPr/>
        </p:nvSpPr>
        <p:spPr>
          <a:xfrm>
            <a:off x="320040" y="1956816"/>
            <a:ext cx="502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1A0E89-B6C3-2212-B214-F644B94A9257}"/>
              </a:ext>
            </a:extLst>
          </p:cNvPr>
          <p:cNvSpPr/>
          <p:nvPr/>
        </p:nvSpPr>
        <p:spPr>
          <a:xfrm>
            <a:off x="914400" y="2011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base parameters from history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0B02776-AB15-2C41-68DE-39E9566FC91E}"/>
              </a:ext>
            </a:extLst>
          </p:cNvPr>
          <p:cNvSpPr/>
          <p:nvPr/>
        </p:nvSpPr>
        <p:spPr>
          <a:xfrm>
            <a:off x="914400" y="22677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smallest observed N (n_min):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1269B5E-46E2-26A1-BAD5-481B26CFC0E4}"/>
              </a:ext>
            </a:extLst>
          </p:cNvPr>
          <p:cNvSpPr/>
          <p:nvPr/>
        </p:nvSpPr>
        <p:spPr>
          <a:xfrm>
            <a:off x="3429000" y="2011680"/>
            <a:ext cx="52578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FAB64F-48A5-6F09-38F2-24238E00CC9F}"/>
              </a:ext>
            </a:extLst>
          </p:cNvPr>
          <p:cNvSpPr/>
          <p:nvPr/>
        </p:nvSpPr>
        <p:spPr>
          <a:xfrm>
            <a:off x="3520440" y="2029968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avg(T_k × P_k)          total work (samples), constant per workload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= avg(P_k) / n_min       per-node baseline throughput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T_prov = avg(provisioning_s) average provisioning time</a:t>
            </a:r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F843411-EA17-20AE-F3B5-9B704B53D263}"/>
              </a:ext>
            </a:extLst>
          </p:cNvPr>
          <p:cNvSpPr/>
          <p:nvPr/>
        </p:nvSpPr>
        <p:spPr>
          <a:xfrm>
            <a:off x="320040" y="2862072"/>
            <a:ext cx="8503920" cy="850392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34145AD-3995-B631-FB30-B30DA23646C2}"/>
              </a:ext>
            </a:extLst>
          </p:cNvPr>
          <p:cNvSpPr/>
          <p:nvPr/>
        </p:nvSpPr>
        <p:spPr>
          <a:xfrm>
            <a:off x="320040" y="2862072"/>
            <a:ext cx="502920" cy="850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6C841D7-2A8F-871D-70D7-616A693513BA}"/>
              </a:ext>
            </a:extLst>
          </p:cNvPr>
          <p:cNvSpPr/>
          <p:nvPr/>
        </p:nvSpPr>
        <p:spPr>
          <a:xfrm>
            <a:off x="320040" y="2862072"/>
            <a:ext cx="502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E8A3124-1289-B6AE-8399-E1A68B7FE023}"/>
              </a:ext>
            </a:extLst>
          </p:cNvPr>
          <p:cNvSpPr/>
          <p:nvPr/>
        </p:nvSpPr>
        <p:spPr>
          <a:xfrm>
            <a:off x="914400" y="2916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alpha — scaling overhead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C41CA76-100D-603D-CF39-BA41AD0102B6}"/>
              </a:ext>
            </a:extLst>
          </p:cNvPr>
          <p:cNvSpPr/>
          <p:nvPr/>
        </p:nvSpPr>
        <p:spPr>
          <a:xfrm>
            <a:off x="914400" y="31729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efficiency decays as more nodes are added (</a:t>
            </a:r>
            <a:r>
              <a:rPr lang="en-US" sz="9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 communication cost):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FFA7450-5CA1-810F-FD02-C43ABB07FF2F}"/>
              </a:ext>
            </a:extLst>
          </p:cNvPr>
          <p:cNvSpPr/>
          <p:nvPr/>
        </p:nvSpPr>
        <p:spPr>
          <a:xfrm>
            <a:off x="3429000" y="2916936"/>
            <a:ext cx="52578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A4A122F-60A3-9C4D-1E4B-E430D3CC773C}"/>
              </a:ext>
            </a:extLst>
          </p:cNvPr>
          <p:cNvSpPr/>
          <p:nvPr/>
        </p:nvSpPr>
        <p:spPr>
          <a:xfrm>
            <a:off x="3520440" y="2935224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distinct N  →  alpha = 0   (linear scaling assumed)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distinct N  →  </a:t>
            </a:r>
            <a:r>
              <a:rPr lang="en-US" sz="85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observed_eta</a:t>
            </a: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(P2/n2)/(P1/n1)   // actual parallel efficiency</a:t>
            </a:r>
            <a:endParaRPr lang="en-US" sz="850" dirty="0"/>
          </a:p>
          <a:p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→  alpha = (1 - </a:t>
            </a:r>
            <a:r>
              <a:rPr lang="en-US" sz="85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observed_eta</a:t>
            </a: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/ (</a:t>
            </a:r>
            <a:r>
              <a:rPr lang="en-US" sz="85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observed_eta</a:t>
            </a: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(n2-1))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 distinct N →  argmin_alpha  sum[ (P(n) - p0*n*eta(n,alpha))^2 ]</a:t>
            </a:r>
            <a:endParaRPr lang="en-US" sz="8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AF94911-02BE-007A-7C3A-777DE76B9810}"/>
              </a:ext>
            </a:extLst>
          </p:cNvPr>
          <p:cNvSpPr/>
          <p:nvPr/>
        </p:nvSpPr>
        <p:spPr>
          <a:xfrm>
            <a:off x="320040" y="3767328"/>
            <a:ext cx="8503920" cy="850392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3BEFAD1-78B9-5641-C09D-BA639DC9DA84}"/>
              </a:ext>
            </a:extLst>
          </p:cNvPr>
          <p:cNvSpPr/>
          <p:nvPr/>
        </p:nvSpPr>
        <p:spPr>
          <a:xfrm>
            <a:off x="320040" y="3767328"/>
            <a:ext cx="502920" cy="850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1AFCD22-10B3-B6C4-56B7-0F5268A8E747}"/>
              </a:ext>
            </a:extLst>
          </p:cNvPr>
          <p:cNvSpPr/>
          <p:nvPr/>
        </p:nvSpPr>
        <p:spPr>
          <a:xfrm>
            <a:off x="320040" y="3767328"/>
            <a:ext cx="502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F29E840-14C9-6F00-29C6-8FCB2F35E882}"/>
              </a:ext>
            </a:extLst>
          </p:cNvPr>
          <p:cNvSpPr/>
          <p:nvPr/>
        </p:nvSpPr>
        <p:spPr>
          <a:xfrm>
            <a:off x="91440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T(n) and Cost(n), then select N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656AA96-0E41-2FFA-F38A-550D41F423FF}"/>
              </a:ext>
            </a:extLst>
          </p:cNvPr>
          <p:cNvSpPr/>
          <p:nvPr/>
        </p:nvSpPr>
        <p:spPr>
          <a:xfrm>
            <a:off x="914400" y="407822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 n compute predicted time and cost, then pick the smallest n that meets the Objective:</a:t>
            </a:r>
            <a:endParaRPr lang="en-US" sz="9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BAB2436-2271-DBDE-CDD1-83F75C5719BF}"/>
              </a:ext>
            </a:extLst>
          </p:cNvPr>
          <p:cNvSpPr/>
          <p:nvPr/>
        </p:nvSpPr>
        <p:spPr>
          <a:xfrm>
            <a:off x="3429000" y="3822192"/>
            <a:ext cx="52578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7C0C8B5-2543-DDF8-3BCC-29E64E82AA5E}"/>
              </a:ext>
            </a:extLst>
          </p:cNvPr>
          <p:cNvSpPr/>
          <p:nvPr/>
        </p:nvSpPr>
        <p:spPr>
          <a:xfrm>
            <a:off x="3520440" y="3840480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eta(n) = 1/(1+alpha*(n-1))   predicted parallel efficiency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P(n)   = p0*n*eta(n)         predicted throughput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  = W/P(n)              predicted training time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Cost(n)   = </a:t>
            </a:r>
            <a:r>
              <a:rPr lang="en-US" sz="85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C_hour</a:t>
            </a: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*n*(T(n)+T_prov)/3600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smallest n  where  T(n)&lt;=targetTime  AND  Cost(n)&lt;=maxCost</a:t>
            </a:r>
            <a:endParaRPr lang="en-US" sz="8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3DE5BCD-E516-5286-F1CB-3F21803D5CCE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4548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1583</Words>
  <Application>Microsoft Office PowerPoint</Application>
  <PresentationFormat>On-screen Show (16:9)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Job Operator vs Manual Workflow</dc:title>
  <dc:subject>PptxGenJS Presentation</dc:subject>
  <dc:creator>PptxGenJS</dc:creator>
  <cp:lastModifiedBy>Jon Mukaj</cp:lastModifiedBy>
  <cp:revision>234</cp:revision>
  <dcterms:created xsi:type="dcterms:W3CDTF">2026-06-04T21:30:56Z</dcterms:created>
  <dcterms:modified xsi:type="dcterms:W3CDTF">2026-06-23T10:04:08Z</dcterms:modified>
</cp:coreProperties>
</file>