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1" r:id="rId5"/>
    <p:sldId id="263" r:id="rId6"/>
    <p:sldId id="264" r:id="rId7"/>
    <p:sldId id="266" r:id="rId8"/>
    <p:sldId id="267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8A"/>
    <a:srgbClr val="DBEAFE"/>
    <a:srgbClr val="EF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94578" autoAdjust="0"/>
  </p:normalViewPr>
  <p:slideViewPr>
    <p:cSldViewPr snapToGrid="0" snapToObjects="1">
      <p:cViewPr varScale="1">
        <p:scale>
          <a:sx n="152" d="100"/>
          <a:sy n="152" d="100"/>
        </p:scale>
        <p:origin x="70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786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96012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Training Operator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94360" y="19202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Declarative, auto-tuned distributed ML training on Kubernetes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542032"/>
            <a:ext cx="79552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28346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Mukaj</a:t>
            </a:r>
            <a:endParaRPr lang="en-US" sz="17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FA553B7-36AF-108F-CB50-F1442889AB89}"/>
              </a:ext>
            </a:extLst>
          </p:cNvPr>
          <p:cNvSpPr/>
          <p:nvPr/>
        </p:nvSpPr>
        <p:spPr>
          <a:xfrm>
            <a:off x="594360" y="31973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</a:t>
            </a: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17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24013D0-1F53-07CF-9FF1-A1490FBF2613}"/>
              </a:ext>
            </a:extLst>
          </p:cNvPr>
          <p:cNvSpPr/>
          <p:nvPr/>
        </p:nvSpPr>
        <p:spPr>
          <a:xfrm>
            <a:off x="594360" y="3571303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Enes </a:t>
            </a:r>
            <a:r>
              <a:rPr lang="en-US" sz="1700" b="1" dirty="0" err="1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Bajrovic</a:t>
            </a: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B955C462-68D3-D89F-1080-4193AA997259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1148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Distributed Training by Hand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2435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1: fine-tuning LLM with distributed </a:t>
            </a:r>
            <a:r>
              <a:rPr lang="en-US" sz="1500" i="1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5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GKE — every run required 5 manual commands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55448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764792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21488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pool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23865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container node-pools create …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57400" y="2121408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48840" y="1691640"/>
            <a:ext cx="155448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40280" y="1764792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4028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58568" y="21488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YAML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58568" y="23865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vim baseline-pytorchjob.yaml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03320" y="2121408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94760" y="1691640"/>
            <a:ext cx="155448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86200" y="1764792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8620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04488" y="21488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job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04488" y="23865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…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49240" y="2121408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40680" y="1691640"/>
            <a:ext cx="155448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32120" y="1764792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3212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50408" y="21488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+ collect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50408" y="23865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cp master-pod:/… results/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995160" y="2121408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086600" y="1691640"/>
            <a:ext cx="155448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78040" y="1764792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7804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96328" y="21488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pool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96328" y="23865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container node-pools delete 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3961" y="3218688"/>
            <a:ext cx="4846320" cy="1256348"/>
          </a:xfrm>
          <a:prstGeom prst="rect">
            <a:avLst/>
          </a:prstGeom>
          <a:solidFill>
            <a:srgbClr val="DBEAFE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5800" y="327783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3633787"/>
            <a:ext cx="4572000" cy="74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overhead per run: provision the node pool, wait for training to finish, collect results, delete the pool — all by hand</a:t>
            </a:r>
            <a:endParaRPr lang="en-US" sz="105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between runs and no strategy for deciding node count — N is guessed, not computed from time or cost objectives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32120" y="2834640"/>
            <a:ext cx="3108960" cy="1783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23560" y="292608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automate all of this?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900" dirty="0"/>
          </a:p>
        </p:txBody>
      </p:sp>
      <p:sp>
        <p:nvSpPr>
          <p:cNvPr id="40" name="Shape 0">
            <a:extLst>
              <a:ext uri="{FF2B5EF4-FFF2-40B4-BE49-F238E27FC236}">
                <a16:creationId xmlns:a16="http://schemas.microsoft.com/office/drawing/2014/main" id="{565E9648-5EB0-9D2F-6FA6-488AF4A5366D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distributed-training-operator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50976"/>
            <a:ext cx="81381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1207008" cy="329184"/>
          </a:xfrm>
          <a:prstGeom prst="rect">
            <a:avLst/>
          </a:prstGeom>
          <a:solidFill>
            <a:srgbClr val="7BA7F5"/>
          </a:solidFill>
          <a:ln w="12700">
            <a:solidFill>
              <a:srgbClr val="D1D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6344" y="102412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73352" y="1152144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64792" y="1024128"/>
            <a:ext cx="1207008" cy="329184"/>
          </a:xfrm>
          <a:prstGeom prst="rect">
            <a:avLst/>
          </a:prstGeom>
          <a:solidFill>
            <a:srgbClr val="CADCFC"/>
          </a:solidFill>
          <a:ln w="12700">
            <a:solidFill>
              <a:srgbClr val="D1D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64792" y="102412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71800" y="1152144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063240" y="1024128"/>
            <a:ext cx="1207008" cy="329184"/>
          </a:xfrm>
          <a:prstGeom prst="rect">
            <a:avLst/>
          </a:prstGeom>
          <a:solidFill>
            <a:srgbClr val="A5F3C0"/>
          </a:solidFill>
          <a:ln w="12700">
            <a:solidFill>
              <a:srgbClr val="D1D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63240" y="102412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0248" y="1152144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61688" y="1024128"/>
            <a:ext cx="1207008" cy="329184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61688" y="102412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68696" y="1152144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60136" y="1024128"/>
            <a:ext cx="1207008" cy="329184"/>
          </a:xfrm>
          <a:prstGeom prst="rect">
            <a:avLst/>
          </a:prstGeom>
          <a:solidFill>
            <a:srgbClr val="FCA5A5"/>
          </a:solidFill>
          <a:ln w="12700">
            <a:solidFill>
              <a:srgbClr val="D1D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0136" y="102412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67144" y="1152144"/>
            <a:ext cx="91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58584" y="1024128"/>
            <a:ext cx="1207008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D1D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58584" y="102412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1463040"/>
            <a:ext cx="777240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14630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43000" y="1490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once by admin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1737360"/>
            <a:ext cx="2743200" cy="297180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1783080"/>
            <a:ext cx="2606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controller-manager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distributed-training-system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image: jmukaj/</a:t>
            </a:r>
            <a:r>
              <a:rPr lang="en-US" sz="700" dirty="0" err="1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distributed-training-operator:latest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command: [/manager]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args: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--leader-elect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--health-probe-bind-address=:8081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--cloud-provider=gke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--gcp-project=praktikum2-494215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--gcp-location=us-east1-d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--cluster-name=praktikum2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--default-cpu-machine-type=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e2-standard-4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--machine-costs-configmap=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machine-costs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--node-service-account=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gke-cluster-sa@...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00400" y="1463040"/>
            <a:ext cx="77724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0" y="14630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023360" y="1490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— applied per training run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0" y="1737360"/>
            <a:ext cx="2743200" cy="297180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91840" y="1783080"/>
            <a:ext cx="2606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training.distributedjob.io/v1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</a:t>
            </a:r>
            <a:r>
              <a:rPr lang="en-US" sz="700" dirty="0" err="1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DistributedTraining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distributedjob-obj-a3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default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backend: pytorch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hardware: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cpu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00" dirty="0" err="1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machineType</a:t>
            </a: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c4-highcpu-8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topology: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nodes: 3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00" dirty="0" err="1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processesPerNode</a:t>
            </a: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BEE-spoke-data/smol_llama-101M-GQA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training: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epochs: 1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batchSize: 4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learningRate: "2e-5"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ddpBackend: gloo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outputPVCName: distributed-training-output-</a:t>
            </a:r>
            <a:r>
              <a:rPr lang="en-US" sz="700" dirty="0" err="1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pvc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080760" y="1463040"/>
            <a:ext cx="777240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80760" y="14630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903720" y="1490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writes back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BD4FE85A-B222-BB55-4C4F-7382BAEFAE1D}"/>
              </a:ext>
            </a:extLst>
          </p:cNvPr>
          <p:cNvSpPr/>
          <p:nvPr/>
        </p:nvSpPr>
        <p:spPr>
          <a:xfrm>
            <a:off x="6080760" y="1763185"/>
            <a:ext cx="2743200" cy="297180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6149340" y="1743289"/>
            <a:ext cx="2606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……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phase: Succeeded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startTime: "2026-06-01T17:41:26Z"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trainingStartTime: "2026-06-01T17:43:29Z"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finishTime: "2026-06-01T17:53:12Z"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resolvedTopology: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nodes: 7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masterReplicas: 1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workerReplicas: 6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estimatedTime: 9m13s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estimatedCost: "0.4327"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results: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trainingTime: 9m9s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provisioningTime: 1m22s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estimatedCostUSD: "0.4294"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collectionTime: 4s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loss: "1.5835"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perplexity: "4.8720"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samplesPerSecond: "63.80"</a:t>
            </a:r>
            <a:endParaRPr lang="en-US" sz="700" dirty="0"/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D3E106A0-2E6D-1F7F-528D-2F0E684D17B3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7" grpId="0" animBg="1"/>
      <p:bldP spid="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Comparison: Baseline vs Operator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2" y="1187254"/>
            <a:ext cx="81381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Chip0"/>
          <p:cNvSpPr>
            <a:spLocks noGrp="1"/>
          </p:cNvSpPr>
          <p:nvPr/>
        </p:nvSpPr>
        <p:spPr>
          <a:xfrm>
            <a:off x="320042" y="1141534"/>
            <a:ext cx="1430888" cy="384048"/>
          </a:xfrm>
          <a:prstGeom prst="roundRect">
            <a:avLst>
              <a:gd name="adj" fmla="val 2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 Google Cloud GKE</a:t>
            </a:r>
          </a:p>
        </p:txBody>
      </p:sp>
      <p:sp>
        <p:nvSpPr>
          <p:cNvPr id="31" name="Chip1"/>
          <p:cNvSpPr>
            <a:spLocks noGrp="1"/>
          </p:cNvSpPr>
          <p:nvPr/>
        </p:nvSpPr>
        <p:spPr>
          <a:xfrm>
            <a:off x="1860658" y="1141534"/>
            <a:ext cx="1734410" cy="384048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smol_llama-101M-GQA model</a:t>
            </a:r>
          </a:p>
        </p:txBody>
      </p:sp>
      <p:sp>
        <p:nvSpPr>
          <p:cNvPr id="32" name="Chip2"/>
          <p:cNvSpPr>
            <a:spLocks noGrp="1"/>
          </p:cNvSpPr>
          <p:nvPr/>
        </p:nvSpPr>
        <p:spPr>
          <a:xfrm>
            <a:off x="3704796" y="1141534"/>
            <a:ext cx="1777770" cy="384048"/>
          </a:xfrm>
          <a:prstGeom prst="roundRect">
            <a:avLst>
              <a:gd name="adj" fmla="val 20000"/>
            </a:avLst>
          </a:prstGeom>
          <a:solidFill>
            <a:srgbClr val="475569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medalpaca / medical flashcards dataset</a:t>
            </a:r>
          </a:p>
        </p:txBody>
      </p:sp>
      <p:sp>
        <p:nvSpPr>
          <p:cNvPr id="33" name="Chip3"/>
          <p:cNvSpPr>
            <a:spLocks noGrp="1"/>
          </p:cNvSpPr>
          <p:nvPr/>
        </p:nvSpPr>
        <p:spPr>
          <a:xfrm>
            <a:off x="5592294" y="1141534"/>
            <a:ext cx="1691050" cy="384048"/>
          </a:xfrm>
          <a:prstGeom prst="roundRect">
            <a:avLst>
              <a:gd name="adj" fmla="val 2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c4-highcpu-8  ·  $0.42 / hr / node</a:t>
            </a:r>
          </a:p>
        </p:txBody>
      </p:sp>
      <p:sp>
        <p:nvSpPr>
          <p:cNvPr id="34" name="Chip4"/>
          <p:cNvSpPr>
            <a:spLocks noGrp="1"/>
          </p:cNvSpPr>
          <p:nvPr/>
        </p:nvSpPr>
        <p:spPr>
          <a:xfrm>
            <a:off x="7393072" y="1141534"/>
            <a:ext cx="1430888" cy="384048"/>
          </a:xfrm>
          <a:prstGeom prst="roundRect">
            <a:avLst>
              <a:gd name="adj" fmla="val 2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B-2: 2 nodes   /   B-3: 3 nodes</a:t>
            </a:r>
          </a:p>
        </p:txBody>
      </p:sp>
      <p:sp>
        <p:nvSpPr>
          <p:cNvPr id="21" name="CompSnippet"/>
          <p:cNvSpPr>
            <a:spLocks noGrp="1"/>
          </p:cNvSpPr>
          <p:nvPr/>
        </p:nvSpPr>
        <p:spPr>
          <a:xfrm>
            <a:off x="380330" y="3479292"/>
            <a:ext cx="8503920" cy="1463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/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</a:rPr>
              <a:t>Key results vs baseline:</a:t>
            </a:r>
          </a:p>
          <a:p>
            <a:pPr marL="228600" indent="-228600">
              <a:spcBef>
                <a:spcPts val="80"/>
              </a:spcBef>
              <a:buChar char="•"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</a:rPr>
              <a:t>5 commands per run  →  1 kubectl apply   (5× fewer human steps, same GKE infrastructure)</a:t>
            </a:r>
          </a:p>
          <a:p>
            <a:pPr marL="228600" indent="-228600">
              <a:spcBef>
                <a:spcPts val="80"/>
              </a:spcBef>
              <a:buFontTx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Training time nearly identical between manual baseline and operator runs</a:t>
            </a:r>
            <a:endParaRPr lang="en-US" sz="1100" dirty="0">
              <a:solidFill>
                <a:srgbClr val="059669"/>
              </a:solidFill>
              <a:latin typeface="Calibri" pitchFamily="34" charset="0"/>
            </a:endParaRPr>
          </a:p>
          <a:p>
            <a:pPr marL="228600" indent="-228600">
              <a:spcBef>
                <a:spcPts val="80"/>
              </a:spcBef>
              <a:buChar char="•"/>
            </a:pPr>
            <a:r>
              <a:rPr lang="en-US" sz="1100" dirty="0">
                <a:solidFill>
                  <a:srgbClr val="1E3A8A"/>
                </a:solidFill>
                <a:latin typeface="Calibri" pitchFamily="34" charset="0"/>
              </a:rPr>
              <a:t>Training quality identical — same eval loss and perplexity at matched node count</a:t>
            </a:r>
          </a:p>
          <a:p>
            <a:pPr marL="228600" indent="-228600">
              <a:spcBef>
                <a:spcPts val="80"/>
              </a:spcBef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Cost and provisioning time comparable; collection fully automated via operator</a:t>
            </a:r>
          </a:p>
        </p:txBody>
      </p:sp>
      <p:sp>
        <p:nvSpPr>
          <p:cNvPr id="6" name="Text 3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999CFB-B942-29FA-4F65-549D497D0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8" y="1214686"/>
            <a:ext cx="232286" cy="2322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EB4076-205D-2AF0-8FEF-262C302D6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5" y="1853320"/>
            <a:ext cx="9018396" cy="14368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EA40DB-6B76-EDDD-AE7C-B5758EA93F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9480" y="3635132"/>
            <a:ext cx="3053080" cy="955196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7B82B20D-1E0A-1992-D298-8E0A720A3572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20040" y="220000"/>
            <a:ext cx="85039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Tuner: Auto-Selecting Node Count from History</a:t>
            </a:r>
            <a:endParaRPr lang="en-US" sz="2800" dirty="0"/>
          </a:p>
        </p:txBody>
      </p:sp>
      <p:sp>
        <p:nvSpPr>
          <p:cNvPr id="3" name="Divider"/>
          <p:cNvSpPr/>
          <p:nvPr/>
        </p:nvSpPr>
        <p:spPr>
          <a:xfrm>
            <a:off x="320040" y="748000"/>
            <a:ext cx="8503920" cy="20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LeftHdr"/>
          <p:cNvSpPr/>
          <p:nvPr/>
        </p:nvSpPr>
        <p:spPr>
          <a:xfrm>
            <a:off x="133973" y="2593500"/>
            <a:ext cx="40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75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Tuner Steps</a:t>
            </a:r>
            <a:endParaRPr lang="en-US" sz="875" dirty="0"/>
          </a:p>
        </p:txBody>
      </p:sp>
      <p:sp>
        <p:nvSpPr>
          <p:cNvPr id="5" name="RightHdr"/>
          <p:cNvSpPr/>
          <p:nvPr/>
        </p:nvSpPr>
        <p:spPr>
          <a:xfrm>
            <a:off x="4527837" y="2813500"/>
            <a:ext cx="42639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75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DistributedTrainingHistory CR  —  written by operator after each run</a:t>
            </a:r>
            <a:endParaRPr lang="en-US" sz="875" dirty="0"/>
          </a:p>
        </p:txBody>
      </p:sp>
      <p:sp>
        <p:nvSpPr>
          <p:cNvPr id="6" name="StepBg1"/>
          <p:cNvSpPr/>
          <p:nvPr/>
        </p:nvSpPr>
        <p:spPr>
          <a:xfrm>
            <a:off x="133973" y="2813500"/>
            <a:ext cx="4020000" cy="510000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epBadge1"/>
          <p:cNvSpPr/>
          <p:nvPr/>
        </p:nvSpPr>
        <p:spPr>
          <a:xfrm>
            <a:off x="133973" y="2813500"/>
            <a:ext cx="307982" cy="510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epNum1"/>
          <p:cNvSpPr/>
          <p:nvPr/>
        </p:nvSpPr>
        <p:spPr>
          <a:xfrm>
            <a:off x="133973" y="2813500"/>
            <a:ext cx="360000" cy="5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tepTitle1"/>
          <p:cNvSpPr/>
          <p:nvPr/>
        </p:nvSpPr>
        <p:spPr>
          <a:xfrm>
            <a:off x="493973" y="2838500"/>
            <a:ext cx="36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History</a:t>
            </a:r>
            <a:endParaRPr lang="en-US" sz="1050" dirty="0"/>
          </a:p>
        </p:txBody>
      </p:sp>
      <p:sp>
        <p:nvSpPr>
          <p:cNvPr id="10" name="StepDesc1"/>
          <p:cNvSpPr/>
          <p:nvPr/>
        </p:nvSpPr>
        <p:spPr>
          <a:xfrm>
            <a:off x="493973" y="3033500"/>
            <a:ext cx="3660000" cy="2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DistributedJobHistory entries for this config hash; group by number of nodes, find average throughput P per node count.</a:t>
            </a:r>
            <a:endParaRPr lang="en-US" sz="875" dirty="0"/>
          </a:p>
        </p:txBody>
      </p:sp>
      <p:sp>
        <p:nvSpPr>
          <p:cNvPr id="11" name="StepBg2"/>
          <p:cNvSpPr/>
          <p:nvPr/>
        </p:nvSpPr>
        <p:spPr>
          <a:xfrm>
            <a:off x="133973" y="3378500"/>
            <a:ext cx="4020000" cy="510000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Badge2"/>
          <p:cNvSpPr/>
          <p:nvPr/>
        </p:nvSpPr>
        <p:spPr>
          <a:xfrm>
            <a:off x="133973" y="3378500"/>
            <a:ext cx="307982" cy="510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epNum2"/>
          <p:cNvSpPr/>
          <p:nvPr/>
        </p:nvSpPr>
        <p:spPr>
          <a:xfrm>
            <a:off x="133973" y="3378500"/>
            <a:ext cx="360000" cy="5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tepTitle2"/>
          <p:cNvSpPr/>
          <p:nvPr/>
        </p:nvSpPr>
        <p:spPr>
          <a:xfrm>
            <a:off x="493973" y="3403500"/>
            <a:ext cx="36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Base Rate</a:t>
            </a:r>
            <a:endParaRPr lang="en-US" sz="1050" dirty="0"/>
          </a:p>
        </p:txBody>
      </p:sp>
      <p:sp>
        <p:nvSpPr>
          <p:cNvPr id="15" name="StepDesc2"/>
          <p:cNvSpPr/>
          <p:nvPr/>
        </p:nvSpPr>
        <p:spPr>
          <a:xfrm>
            <a:off x="493973" y="3598500"/>
            <a:ext cx="3660000" cy="2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minimum number of nodes, compute single-node throughput: P0 = P_min / </a:t>
            </a:r>
            <a:r>
              <a:rPr lang="en-US" sz="875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n_min</a:t>
            </a:r>
            <a:r>
              <a:rPr lang="en-US" sz="8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75" dirty="0"/>
          </a:p>
        </p:txBody>
      </p:sp>
      <p:sp>
        <p:nvSpPr>
          <p:cNvPr id="16" name="StepBg3"/>
          <p:cNvSpPr/>
          <p:nvPr/>
        </p:nvSpPr>
        <p:spPr>
          <a:xfrm>
            <a:off x="133973" y="3992784"/>
            <a:ext cx="4020000" cy="510000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epBadge3"/>
          <p:cNvSpPr/>
          <p:nvPr/>
        </p:nvSpPr>
        <p:spPr>
          <a:xfrm>
            <a:off x="133568" y="3992784"/>
            <a:ext cx="307982" cy="510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epNum3"/>
          <p:cNvSpPr/>
          <p:nvPr/>
        </p:nvSpPr>
        <p:spPr>
          <a:xfrm>
            <a:off x="117713" y="3986595"/>
            <a:ext cx="360000" cy="5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tepTitle3"/>
          <p:cNvSpPr/>
          <p:nvPr/>
        </p:nvSpPr>
        <p:spPr>
          <a:xfrm>
            <a:off x="477036" y="4001547"/>
            <a:ext cx="36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α (Scaling Overhead)</a:t>
            </a:r>
            <a:endParaRPr lang="en-US" sz="1050" dirty="0"/>
          </a:p>
        </p:txBody>
      </p:sp>
      <p:sp>
        <p:nvSpPr>
          <p:cNvPr id="20" name="StepDesc3"/>
          <p:cNvSpPr/>
          <p:nvPr/>
        </p:nvSpPr>
        <p:spPr>
          <a:xfrm>
            <a:off x="467559" y="4186547"/>
            <a:ext cx="3660000" cy="2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efficiency decay η(n)=1/(1+α(n-1)). Closed-form for 2 history entries; golden-section search for 3+.</a:t>
            </a:r>
            <a:endParaRPr lang="en-US" sz="875" dirty="0"/>
          </a:p>
        </p:txBody>
      </p:sp>
      <p:sp>
        <p:nvSpPr>
          <p:cNvPr id="21" name="StepBg4"/>
          <p:cNvSpPr/>
          <p:nvPr/>
        </p:nvSpPr>
        <p:spPr>
          <a:xfrm>
            <a:off x="133973" y="4573729"/>
            <a:ext cx="4020000" cy="510000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tepBadge4"/>
          <p:cNvSpPr/>
          <p:nvPr/>
        </p:nvSpPr>
        <p:spPr>
          <a:xfrm>
            <a:off x="133568" y="4567577"/>
            <a:ext cx="307982" cy="510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tepNum4"/>
          <p:cNvSpPr/>
          <p:nvPr/>
        </p:nvSpPr>
        <p:spPr>
          <a:xfrm>
            <a:off x="100098" y="4551595"/>
            <a:ext cx="360000" cy="5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tepTitle4"/>
          <p:cNvSpPr/>
          <p:nvPr/>
        </p:nvSpPr>
        <p:spPr>
          <a:xfrm>
            <a:off x="467559" y="4577317"/>
            <a:ext cx="36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Optimal Number of Nodes N </a:t>
            </a:r>
            <a:endParaRPr lang="en-US" sz="1050" dirty="0"/>
          </a:p>
        </p:txBody>
      </p:sp>
      <p:sp>
        <p:nvSpPr>
          <p:cNvPr id="25" name="StepDesc4"/>
          <p:cNvSpPr/>
          <p:nvPr/>
        </p:nvSpPr>
        <p:spPr>
          <a:xfrm>
            <a:off x="475020" y="4737810"/>
            <a:ext cx="3660000" cy="2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predicted T(n) and Cost(n) per candidate; return smallest n satisfying the Objective.</a:t>
            </a:r>
            <a:endParaRPr lang="en-US" sz="875" dirty="0"/>
          </a:p>
        </p:txBody>
      </p:sp>
      <p:sp>
        <p:nvSpPr>
          <p:cNvPr id="26" name="YamlBox"/>
          <p:cNvSpPr/>
          <p:nvPr/>
        </p:nvSpPr>
        <p:spPr>
          <a:xfrm>
            <a:off x="4531943" y="3022332"/>
            <a:ext cx="4263920" cy="1974240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YamlText"/>
          <p:cNvSpPr/>
          <p:nvPr/>
        </p:nvSpPr>
        <p:spPr>
          <a:xfrm>
            <a:off x="4567894" y="3055832"/>
            <a:ext cx="4111902" cy="188877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apiVersion: training.distributedtraining.io/v1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kind: DistributedTrainingHistory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metadata: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labels: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  config-hash: 57c363d8...997d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name: djh-disttraining-cal-3node-kpbfz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spec: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backend: pytorch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configHash: 57c363d8...997d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machineType: c4-highcpu-8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nodes: 3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provisioningSeconds: '82'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throughput: 26270793037n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totalWork: '27164'</a:t>
            </a:r>
          </a:p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trainingSeconds: '1034'</a:t>
            </a:r>
          </a:p>
        </p:txBody>
      </p:sp>
      <p:sp>
        <p:nvSpPr>
          <p:cNvPr id="28" name="PageNum"/>
          <p:cNvSpPr/>
          <p:nvPr/>
        </p:nvSpPr>
        <p:spPr>
          <a:xfrm>
            <a:off x="8503920" y="49000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  <p:sp>
        <p:nvSpPr>
          <p:cNvPr id="51" name="DiagLabel"/>
          <p:cNvSpPr/>
          <p:nvPr/>
        </p:nvSpPr>
        <p:spPr>
          <a:xfrm>
            <a:off x="220040" y="809320"/>
            <a:ext cx="85039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Shift: from static node count to declaring an objective</a:t>
            </a:r>
            <a:endParaRPr lang="en-US" sz="950" dirty="0"/>
          </a:p>
        </p:txBody>
      </p:sp>
      <p:sp>
        <p:nvSpPr>
          <p:cNvPr id="52" name="BeforeBg"/>
          <p:cNvSpPr/>
          <p:nvPr/>
        </p:nvSpPr>
        <p:spPr>
          <a:xfrm>
            <a:off x="220040" y="1102263"/>
            <a:ext cx="3800000" cy="1420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BeforeHdr"/>
          <p:cNvSpPr/>
          <p:nvPr/>
        </p:nvSpPr>
        <p:spPr>
          <a:xfrm>
            <a:off x="220040" y="1073088"/>
            <a:ext cx="3800000" cy="280000"/>
          </a:xfrm>
          <a:prstGeom prst="round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BeforeHdrTxt"/>
          <p:cNvSpPr/>
          <p:nvPr/>
        </p:nvSpPr>
        <p:spPr>
          <a:xfrm>
            <a:off x="248247" y="1060000"/>
            <a:ext cx="364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Static Node Count</a:t>
            </a:r>
            <a:endParaRPr lang="en-US" sz="1000" dirty="0"/>
          </a:p>
        </p:txBody>
      </p:sp>
      <p:sp>
        <p:nvSpPr>
          <p:cNvPr id="55" name="BeforeCode"/>
          <p:cNvSpPr/>
          <p:nvPr/>
        </p:nvSpPr>
        <p:spPr>
          <a:xfrm>
            <a:off x="268247" y="1390000"/>
            <a:ext cx="36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spec:</a:t>
            </a: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topology</a:t>
            </a: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  nodes: 3       </a:t>
            </a: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backend: </a:t>
            </a:r>
            <a:r>
              <a:rPr lang="en-US" sz="750" dirty="0" err="1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pytorch</a:t>
            </a:r>
            <a:endParaRPr lang="en-US" sz="750" dirty="0">
              <a:solidFill>
                <a:srgbClr val="374151"/>
              </a:solidFill>
              <a:latin typeface="Consolas" pitchFamily="49" charset="0"/>
              <a:ea typeface="Consolas" pitchFamily="49" charset="-122"/>
              <a:cs typeface="Consolas" pitchFamily="49" charset="-120"/>
            </a:endParaRPr>
          </a:p>
          <a:p>
            <a:pPr marL="0" indent="0" algn="l">
              <a:lnSpc>
                <a:spcPts val="875"/>
              </a:lnSpc>
              <a:buNone/>
            </a:pPr>
            <a:endParaRPr lang="en-US" sz="750" dirty="0">
              <a:solidFill>
                <a:srgbClr val="374151"/>
              </a:solidFill>
              <a:latin typeface="Consolas" pitchFamily="49" charset="0"/>
              <a:ea typeface="Consolas" pitchFamily="49" charset="-122"/>
              <a:cs typeface="Consolas" pitchFamily="49" charset="-120"/>
            </a:endParaRP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# no memory between runs</a:t>
            </a:r>
          </a:p>
        </p:txBody>
      </p:sp>
      <p:sp>
        <p:nvSpPr>
          <p:cNvPr id="56" name="BeforeCap"/>
          <p:cNvSpPr/>
          <p:nvPr/>
        </p:nvSpPr>
        <p:spPr>
          <a:xfrm>
            <a:off x="248247" y="2220000"/>
            <a:ext cx="364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manually picks N; operator runs with that exact count.</a:t>
            </a:r>
            <a:endParaRPr lang="en-US" sz="825" dirty="0"/>
          </a:p>
        </p:txBody>
      </p:sp>
      <p:sp>
        <p:nvSpPr>
          <p:cNvPr id="58" name="ArrowBox"/>
          <p:cNvSpPr/>
          <p:nvPr/>
        </p:nvSpPr>
        <p:spPr>
          <a:xfrm>
            <a:off x="4137036" y="1453941"/>
            <a:ext cx="600000" cy="500000"/>
          </a:xfrm>
          <a:prstGeom prst="rightArrow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AfterBg"/>
          <p:cNvSpPr/>
          <p:nvPr/>
        </p:nvSpPr>
        <p:spPr>
          <a:xfrm>
            <a:off x="4879982" y="1075019"/>
            <a:ext cx="3803920" cy="1420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AfterHdr"/>
          <p:cNvSpPr/>
          <p:nvPr/>
        </p:nvSpPr>
        <p:spPr>
          <a:xfrm>
            <a:off x="4879982" y="1075019"/>
            <a:ext cx="3803920" cy="280000"/>
          </a:xfrm>
          <a:prstGeom prst="round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AfterHdrTxt"/>
          <p:cNvSpPr/>
          <p:nvPr/>
        </p:nvSpPr>
        <p:spPr>
          <a:xfrm>
            <a:off x="4959982" y="1075019"/>
            <a:ext cx="36439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Declare an Objective</a:t>
            </a:r>
            <a:endParaRPr lang="en-US" sz="1000" dirty="0"/>
          </a:p>
        </p:txBody>
      </p:sp>
      <p:sp>
        <p:nvSpPr>
          <p:cNvPr id="62" name="AfterCode"/>
          <p:cNvSpPr/>
          <p:nvPr/>
        </p:nvSpPr>
        <p:spPr>
          <a:xfrm>
            <a:off x="4979982" y="1405019"/>
            <a:ext cx="360392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spec:</a:t>
            </a: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objective:</a:t>
            </a: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  targetTime: "10m"</a:t>
            </a: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  maxCost:    “1"</a:t>
            </a: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  maxNodes:   10</a:t>
            </a:r>
          </a:p>
          <a:p>
            <a:pPr marL="0" indent="0" algn="l">
              <a:lnSpc>
                <a:spcPts val="875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...</a:t>
            </a:r>
          </a:p>
        </p:txBody>
      </p:sp>
      <p:sp>
        <p:nvSpPr>
          <p:cNvPr id="63" name="AfterCap"/>
          <p:cNvSpPr/>
          <p:nvPr/>
        </p:nvSpPr>
        <p:spPr>
          <a:xfrm>
            <a:off x="4979982" y="2234219"/>
            <a:ext cx="36439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infers optimal N from history; satisfies objective automatically.</a:t>
            </a:r>
            <a:endParaRPr lang="en-US" sz="825" dirty="0"/>
          </a:p>
        </p:txBody>
      </p:sp>
      <p:sp>
        <p:nvSpPr>
          <p:cNvPr id="71" name="Shape 0">
            <a:extLst>
              <a:ext uri="{FF2B5EF4-FFF2-40B4-BE49-F238E27FC236}">
                <a16:creationId xmlns:a16="http://schemas.microsoft.com/office/drawing/2014/main" id="{7C9D5BEE-4C76-540F-48FE-F118FE294DD8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Tuner Accuracy: Prediction Converges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4327" y="2511361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A1: 3.3% — tuner fitted from only 2 calibration points</a:t>
            </a:r>
            <a:endParaRPr lang="en-US" sz="11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A2: 2% — alpha refitted with 3rd history entry. Faster than predicted time</a:t>
            </a:r>
            <a:endParaRPr lang="en-US" sz="11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A3: 2.5% — error increase; but lower number of nodes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B: 3.8% — different objective, similar prediction error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6118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used: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3822192"/>
            <a:ext cx="1965960" cy="896112"/>
          </a:xfrm>
          <a:prstGeom prst="rect">
            <a:avLst/>
          </a:prstGeom>
          <a:solidFill>
            <a:srgbClr val="DBEAFE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" y="3840480"/>
            <a:ext cx="1819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Objective A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targetTime: "10m"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maxCost: “10"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maxNodes: 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23160" y="3822192"/>
            <a:ext cx="1965960" cy="896112"/>
          </a:xfrm>
          <a:prstGeom prst="rect">
            <a:avLst/>
          </a:prstGeom>
          <a:solidFill>
            <a:srgbClr val="DBEAFE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96312" y="3840480"/>
            <a:ext cx="1819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Objective B (tighter)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targetTime: "7m"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maxCost: "10"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maxNodes: 15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8313CF-CA44-D7D6-66E8-E110AC9E6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10" y="1194354"/>
            <a:ext cx="4450684" cy="11508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7C9775-9F79-7CC2-7352-180B94C15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435" y="1194354"/>
            <a:ext cx="4390125" cy="11087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6E7BC9B-F710-5E2A-FD7E-892A8BC9F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550804"/>
            <a:ext cx="4526280" cy="2115582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5F643E9B-01AB-6EF9-50CE-1708CDC27894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124712"/>
            <a:ext cx="850392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24712"/>
            <a:ext cx="54864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2471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with zero quality cost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42646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reproduces baseline training exactly (loss, perplexity, throughput) while reducing the per-run workflow from 5 commands to 1.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92224"/>
            <a:ext cx="850392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792224"/>
            <a:ext cx="54864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79222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8379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model improves with use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09397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calibrations give sub-7% time prediction. By run A3 error is &lt;3%. Alpha stabilizes as history grows.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59736"/>
            <a:ext cx="850392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459736"/>
            <a:ext cx="54864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45973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505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Objective-driven scaling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761488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declares a time/cost objective; tuner computes N from historical data.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355848"/>
            <a:ext cx="850392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459346"/>
            <a:ext cx="10063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776472"/>
            <a:ext cx="2743200" cy="868680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822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Constant-α model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096512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serial fraction does not capture non-linear scaling at high node counts. A piecewise or per-N model would extend the accurate range.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27832" y="3776472"/>
            <a:ext cx="2743200" cy="868680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19272" y="3822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time absorbed into α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9272" y="4096512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HuggingFace evaluation is fixed overhead folded into the scaling fit; modeling a separate T_eval term would sharpen predictions.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35624" y="3776472"/>
            <a:ext cx="2743200" cy="868680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27064" y="3822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cloud provider and backend validated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27064" y="4096512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GKE (CPU/gloo) is measured end-to-end. EKS/AKS interfaces and other backends are designed but not implemented.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18809731-E0D6-BA64-4370-38B1C2AD9A39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94360" y="23317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2944368"/>
            <a:ext cx="79552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30906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code: github.com/JonMukaj/distributed-job-operator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4015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Mukaj  ·  Praktikum 2  ·  Supervisor: Prof. Enes Bajrovic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1152</Words>
  <Application>Microsoft Office PowerPoint</Application>
  <PresentationFormat>On-screen Show (16:9)</PresentationFormat>
  <Paragraphs>215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Job Operator vs Manual Workflow</dc:title>
  <dc:subject>PptxGenJS Presentation</dc:subject>
  <dc:creator>PptxGenJS</dc:creator>
  <cp:lastModifiedBy>Jon Mukaj</cp:lastModifiedBy>
  <cp:revision>170</cp:revision>
  <dcterms:created xsi:type="dcterms:W3CDTF">2026-06-04T21:30:56Z</dcterms:created>
  <dcterms:modified xsi:type="dcterms:W3CDTF">2026-06-15T18:30:31Z</dcterms:modified>
</cp:coreProperties>
</file>