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9" r:id="rId4"/>
    <p:sldId id="261" r:id="rId5"/>
    <p:sldId id="263" r:id="rId6"/>
    <p:sldId id="264" r:id="rId7"/>
    <p:sldId id="266" r:id="rId8"/>
    <p:sldId id="267" r:id="rId9"/>
    <p:sldId id="258" r:id="rId10"/>
    <p:sldId id="268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3A8A"/>
    <a:srgbClr val="DBEAFE"/>
    <a:srgbClr val="EFF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 autoAdjust="0"/>
    <p:restoredTop sz="94578" autoAdjust="0"/>
  </p:normalViewPr>
  <p:slideViewPr>
    <p:cSldViewPr snapToGrid="0" snapToObjects="1">
      <p:cViewPr varScale="1">
        <p:scale>
          <a:sx n="152" d="100"/>
          <a:sy n="152" d="100"/>
        </p:scale>
        <p:origin x="701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78650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Load history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Query all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DistributedTrainingHistory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CRs matching this config hash. Group entries by node count and average throughput at each — if no history exists, fall back to a default calibration topology to collect the first data point.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Derive base rate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From the smallest observed node count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n_min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compute single-node throughput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P₀ = 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P_min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n_min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Also extract total work volume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average provisioning time 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t_prov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both feed directly into the time and cost predictions.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Fit α (scaling overhead)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 throughput as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P(n) = P₀ · n · η(n)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where η(n) = 1 / (1 + α(n−1)) captures efficiency loss from coordination overhead.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distinct node count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α = 0, linear scaling assumed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 distinct node counts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closed-form solution: α = (1 −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η_obs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/ 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η_obs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· (n − 1))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3+ distinct node counts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golden-section search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minimising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sum of squared residuals across all observations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Select optimal node count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Predict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T(n) = W / P(n)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Cost(n) = n · rate · (T(n) + 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t_prov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each candidate n. Then:</a:t>
            </a: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Time objective only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binary search for the smallest n where T(n) ≤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targetTime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Cost objective only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binary search for the largest n where Cost(n) ≤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maxCost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find n satisfying time first, then verify cost; back off toward fewer nodes until both constraints are met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2D5FC-C4D3-91E4-E8EE-D351F3F33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6C5432-54F3-B97C-9955-125662535E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3FE8A5-795A-6769-4533-AD9BAF6955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6CE4DD-6BC6-CEC5-9C34-75012115B5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5793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96012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Training Operator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594360" y="19202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Declarative, auto-tuned distributed ML training on Kubernetes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94360" y="2542032"/>
            <a:ext cx="7955280" cy="274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283464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 Mukaj</a:t>
            </a:r>
            <a:endParaRPr lang="en-US" sz="1700" dirty="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1FA553B7-36AF-108F-CB50-F1442889AB89}"/>
              </a:ext>
            </a:extLst>
          </p:cNvPr>
          <p:cNvSpPr/>
          <p:nvPr/>
        </p:nvSpPr>
        <p:spPr>
          <a:xfrm>
            <a:off x="594360" y="319735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 err="1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Praktikum</a:t>
            </a:r>
            <a:r>
              <a:rPr lang="en-US" sz="17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</a:t>
            </a:r>
            <a:endParaRPr lang="en-US" sz="1700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924013D0-1F53-07CF-9FF1-A1490FBF2613}"/>
              </a:ext>
            </a:extLst>
          </p:cNvPr>
          <p:cNvSpPr/>
          <p:nvPr/>
        </p:nvSpPr>
        <p:spPr>
          <a:xfrm>
            <a:off x="594360" y="3571303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Dr. Enes </a:t>
            </a:r>
            <a:r>
              <a:rPr lang="en-US" sz="1700" b="1" dirty="0" err="1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Bajrovic</a:t>
            </a:r>
            <a:r>
              <a:rPr lang="en-US" sz="17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</p:txBody>
      </p:sp>
      <p:sp>
        <p:nvSpPr>
          <p:cNvPr id="11" name="Shape 0">
            <a:extLst>
              <a:ext uri="{FF2B5EF4-FFF2-40B4-BE49-F238E27FC236}">
                <a16:creationId xmlns:a16="http://schemas.microsoft.com/office/drawing/2014/main" id="{B955C462-68D3-D89F-1080-4193AA997259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02920" y="41148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Distributed Training by Hand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2435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i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Praktikum 1: fine-tuning LLM with distributed </a:t>
            </a:r>
            <a:r>
              <a:rPr lang="en-US" sz="1500" i="1" dirty="0" err="1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r>
              <a:rPr lang="en-US" sz="1500" i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GKE — every run required 5 manual commands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1554480" cy="960120"/>
          </a:xfrm>
          <a:prstGeom prst="rect">
            <a:avLst/>
          </a:prstGeom>
          <a:solidFill>
            <a:srgbClr val="1D4ED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764792"/>
            <a:ext cx="347472" cy="34747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764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12648" y="2148840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pool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12648" y="2386584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BEA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gcloud container node-pools create …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057400" y="2121408"/>
            <a:ext cx="91440" cy="548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148840" y="1691640"/>
            <a:ext cx="1554480" cy="960120"/>
          </a:xfrm>
          <a:prstGeom prst="rect">
            <a:avLst/>
          </a:prstGeom>
          <a:solidFill>
            <a:srgbClr val="1D4ED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240280" y="1764792"/>
            <a:ext cx="347472" cy="34747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240280" y="1764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258568" y="2148840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YAML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58568" y="2386584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BEA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vim baseline-pytorchjob.yaml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703320" y="2121408"/>
            <a:ext cx="91440" cy="548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794760" y="1691640"/>
            <a:ext cx="1554480" cy="960120"/>
          </a:xfrm>
          <a:prstGeom prst="rect">
            <a:avLst/>
          </a:prstGeom>
          <a:solidFill>
            <a:srgbClr val="1D4ED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886200" y="1764792"/>
            <a:ext cx="347472" cy="34747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886200" y="1764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04488" y="2148840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job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904488" y="2386584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BEA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apply -f …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349240" y="2121408"/>
            <a:ext cx="91440" cy="548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440680" y="1691640"/>
            <a:ext cx="1554480" cy="960120"/>
          </a:xfrm>
          <a:prstGeom prst="rect">
            <a:avLst/>
          </a:prstGeom>
          <a:solidFill>
            <a:srgbClr val="1D4ED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532120" y="1764792"/>
            <a:ext cx="347472" cy="34747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532120" y="1764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550408" y="2148840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+ collect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550408" y="2386584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BEA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cp master-pod:/… results/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995160" y="2121408"/>
            <a:ext cx="91440" cy="548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086600" y="1691640"/>
            <a:ext cx="1554480" cy="960120"/>
          </a:xfrm>
          <a:prstGeom prst="rect">
            <a:avLst/>
          </a:prstGeom>
          <a:solidFill>
            <a:srgbClr val="1D4ED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178040" y="1764792"/>
            <a:ext cx="347472" cy="34747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178040" y="1764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196328" y="2148840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pool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196328" y="2386584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BEA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gcloud container node-pools delete …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53961" y="3218688"/>
            <a:ext cx="4846320" cy="1256348"/>
          </a:xfrm>
          <a:prstGeom prst="rect">
            <a:avLst/>
          </a:prstGeom>
          <a:solidFill>
            <a:srgbClr val="DBEAFE"/>
          </a:solidFill>
          <a:ln w="9525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85800" y="327783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points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40080" y="3633787"/>
            <a:ext cx="4572000" cy="745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overhead per run: provision the node pool, wait for training to finish, collect results, delete the pool — all by hand</a:t>
            </a:r>
            <a:endParaRPr lang="en-US" sz="1050" dirty="0"/>
          </a:p>
          <a:p>
            <a:pPr marL="342900" indent="-342900" algn="l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memory between runs and no strategy for deciding node count — N is guessed, not computed from time or cost objectives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532120" y="2834640"/>
            <a:ext cx="3108960" cy="178308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623560" y="2926080"/>
            <a:ext cx="2926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automate all of this?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6</a:t>
            </a:r>
            <a:endParaRPr lang="en-US" sz="900" dirty="0"/>
          </a:p>
        </p:txBody>
      </p:sp>
      <p:sp>
        <p:nvSpPr>
          <p:cNvPr id="40" name="Shape 0">
            <a:extLst>
              <a:ext uri="{FF2B5EF4-FFF2-40B4-BE49-F238E27FC236}">
                <a16:creationId xmlns:a16="http://schemas.microsoft.com/office/drawing/2014/main" id="{565E9648-5EB0-9D2F-6FA6-488AF4A5366D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Solution: distributed-training-operator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20040" y="950976"/>
            <a:ext cx="8138160" cy="274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66344" y="1024128"/>
            <a:ext cx="1207008" cy="329184"/>
          </a:xfrm>
          <a:prstGeom prst="rect">
            <a:avLst/>
          </a:prstGeom>
          <a:solidFill>
            <a:srgbClr val="7BA7F5"/>
          </a:solidFill>
          <a:ln w="12700">
            <a:solidFill>
              <a:srgbClr val="D1DC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66344" y="102412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673352" y="1152144"/>
            <a:ext cx="91440" cy="548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764792" y="1024128"/>
            <a:ext cx="1207008" cy="329184"/>
          </a:xfrm>
          <a:prstGeom prst="rect">
            <a:avLst/>
          </a:prstGeom>
          <a:solidFill>
            <a:srgbClr val="CADCFC"/>
          </a:solidFill>
          <a:ln w="12700">
            <a:solidFill>
              <a:srgbClr val="D1DC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764792" y="102412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971800" y="1152144"/>
            <a:ext cx="91440" cy="548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063240" y="1024128"/>
            <a:ext cx="1207008" cy="329184"/>
          </a:xfrm>
          <a:prstGeom prst="rect">
            <a:avLst/>
          </a:prstGeom>
          <a:solidFill>
            <a:srgbClr val="A5F3C0"/>
          </a:solidFill>
          <a:ln w="12700">
            <a:solidFill>
              <a:srgbClr val="D1DC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063240" y="102412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70248" y="1152144"/>
            <a:ext cx="91440" cy="548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361688" y="1024128"/>
            <a:ext cx="1207008" cy="329184"/>
          </a:xfrm>
          <a:prstGeom prst="rect">
            <a:avLst/>
          </a:prstGeom>
          <a:solidFill>
            <a:srgbClr val="FDE68A"/>
          </a:solidFill>
          <a:ln w="12700">
            <a:solidFill>
              <a:srgbClr val="D1DC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361688" y="102412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568696" y="1152144"/>
            <a:ext cx="91440" cy="548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660136" y="1024128"/>
            <a:ext cx="1207008" cy="329184"/>
          </a:xfrm>
          <a:prstGeom prst="rect">
            <a:avLst/>
          </a:prstGeom>
          <a:solidFill>
            <a:srgbClr val="FCA5A5"/>
          </a:solidFill>
          <a:ln w="12700">
            <a:solidFill>
              <a:srgbClr val="D1DC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660136" y="102412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Collecting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67144" y="1152144"/>
            <a:ext cx="91440" cy="548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958584" y="1024128"/>
            <a:ext cx="1207008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D1DC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958584" y="102412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Succeeded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" y="1463040"/>
            <a:ext cx="777240" cy="23774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20040" y="146304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43000" y="1490472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once by admin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20040" y="1737360"/>
            <a:ext cx="2743200" cy="2971800"/>
          </a:xfrm>
          <a:prstGeom prst="rect">
            <a:avLst/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1480" y="1783080"/>
            <a:ext cx="2606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apiVersion: apps/v1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kind: Deployment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metadata: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controller-manager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namespace: distributed-training-system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spec: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template: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spec: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containers: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image: jmukaj/</a:t>
            </a:r>
            <a:r>
              <a:rPr lang="en-US" sz="700" dirty="0" err="1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distributed-training-operator:latest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command: [/manager]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args: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 --leader-elect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 --health-probe-bind-address=:8081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 --cloud-provider=gke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 --gcp-project=praktikum2-494215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 --gcp-location=us-east1-d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 --cluster-name=praktikum2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 --default-cpu-machine-type=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e2-standard-4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 --machine-costs-configmap=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machine-costs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 --node-service-account=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gke-cluster-sa@...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200400" y="1463040"/>
            <a:ext cx="777240" cy="23774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200400" y="146304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CR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4023360" y="1490472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— applied per training run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200400" y="1737360"/>
            <a:ext cx="2743200" cy="2971800"/>
          </a:xfrm>
          <a:prstGeom prst="rect">
            <a:avLst/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291840" y="1783080"/>
            <a:ext cx="2606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apiVersion: training.distributedjob.io/v1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kind: </a:t>
            </a:r>
            <a:r>
              <a:rPr lang="en-US" sz="700" dirty="0" err="1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DistributedTraining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metadata: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distributedjob-obj-a3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namespace: default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spec: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backend: pytorch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hardware: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type: cpu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700" dirty="0" err="1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machineType</a:t>
            </a: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c4-highcpu-8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topology: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nodes: 3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700" dirty="0" err="1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processesPerNode</a:t>
            </a: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1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model: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BEE-spoke-data/smol_llama-101M-GQA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training: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epochs: 1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batchSize: 4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learningRate: "2e-5"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ddpBackend: gloo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outputPVCName: distributed-training-output-</a:t>
            </a:r>
            <a:r>
              <a:rPr lang="en-US" sz="700" dirty="0" err="1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pvc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6080760" y="1463040"/>
            <a:ext cx="777240" cy="23774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080760" y="146304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903720" y="1490472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writes back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900" dirty="0"/>
          </a:p>
        </p:txBody>
      </p:sp>
      <p:sp>
        <p:nvSpPr>
          <p:cNvPr id="37" name="Shape 27">
            <a:extLst>
              <a:ext uri="{FF2B5EF4-FFF2-40B4-BE49-F238E27FC236}">
                <a16:creationId xmlns:a16="http://schemas.microsoft.com/office/drawing/2014/main" id="{BD4FE85A-B222-BB55-4C4F-7382BAEFAE1D}"/>
              </a:ext>
            </a:extLst>
          </p:cNvPr>
          <p:cNvSpPr/>
          <p:nvPr/>
        </p:nvSpPr>
        <p:spPr>
          <a:xfrm>
            <a:off x="6080760" y="1763185"/>
            <a:ext cx="2743200" cy="2971800"/>
          </a:xfrm>
          <a:prstGeom prst="rect">
            <a:avLst/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3"/>
          <p:cNvSpPr/>
          <p:nvPr/>
        </p:nvSpPr>
        <p:spPr>
          <a:xfrm>
            <a:off x="6149340" y="1743289"/>
            <a:ext cx="2606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spec:</a:t>
            </a:r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……</a:t>
            </a:r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status: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phase: Succeeded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startTime: "2026-06-01T17:41:26Z"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trainingStartTime: "2026-06-01T17:43:29Z"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finishTime: "2026-06-01T17:53:12Z"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resolvedTopology: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nodes: 7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masterReplicas: 1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workerReplicas: 6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estimatedTime: 9m13s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estimatedCost: "0.4327"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results: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trainingTime: 9m9s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provisioningTime: 1m22s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estimatedCostUSD: "0.4294"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collectionTime: 4s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metrics: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loss: "1.5835"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perplexity: "4.8720"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samplesPerSecond: "63.80"</a:t>
            </a:r>
            <a:endParaRPr lang="en-US" sz="700" dirty="0"/>
          </a:p>
        </p:txBody>
      </p:sp>
      <p:sp>
        <p:nvSpPr>
          <p:cNvPr id="35" name="Shape 0">
            <a:extLst>
              <a:ext uri="{FF2B5EF4-FFF2-40B4-BE49-F238E27FC236}">
                <a16:creationId xmlns:a16="http://schemas.microsoft.com/office/drawing/2014/main" id="{D3E106A0-2E6D-1F7F-528D-2F0E684D17B3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7" grpId="0" animBg="1"/>
      <p:bldP spid="3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Comparison: Baseline vs Operator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2" y="1187254"/>
            <a:ext cx="8138160" cy="274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Chip0"/>
          <p:cNvSpPr>
            <a:spLocks noGrp="1"/>
          </p:cNvSpPr>
          <p:nvPr/>
        </p:nvSpPr>
        <p:spPr>
          <a:xfrm>
            <a:off x="320042" y="1141534"/>
            <a:ext cx="1430888" cy="384048"/>
          </a:xfrm>
          <a:prstGeom prst="roundRect">
            <a:avLst>
              <a:gd name="adj" fmla="val 2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</a:rPr>
              <a:t> Google Cloud GKE</a:t>
            </a:r>
          </a:p>
        </p:txBody>
      </p:sp>
      <p:sp>
        <p:nvSpPr>
          <p:cNvPr id="31" name="Chip1"/>
          <p:cNvSpPr>
            <a:spLocks noGrp="1"/>
          </p:cNvSpPr>
          <p:nvPr/>
        </p:nvSpPr>
        <p:spPr>
          <a:xfrm>
            <a:off x="1860658" y="1141534"/>
            <a:ext cx="1734410" cy="384048"/>
          </a:xfrm>
          <a:prstGeom prst="roundRect">
            <a:avLst>
              <a:gd name="adj" fmla="val 20000"/>
            </a:avLst>
          </a:prstGeom>
          <a:solidFill>
            <a:srgbClr val="1E3A8A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</a:rPr>
              <a:t>smol_llama-101M-GQA model</a:t>
            </a:r>
          </a:p>
        </p:txBody>
      </p:sp>
      <p:sp>
        <p:nvSpPr>
          <p:cNvPr id="32" name="Chip2"/>
          <p:cNvSpPr>
            <a:spLocks noGrp="1"/>
          </p:cNvSpPr>
          <p:nvPr/>
        </p:nvSpPr>
        <p:spPr>
          <a:xfrm>
            <a:off x="3704796" y="1141534"/>
            <a:ext cx="1777770" cy="384048"/>
          </a:xfrm>
          <a:prstGeom prst="roundRect">
            <a:avLst>
              <a:gd name="adj" fmla="val 20000"/>
            </a:avLst>
          </a:prstGeom>
          <a:solidFill>
            <a:srgbClr val="475569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</a:rPr>
              <a:t>medalpaca / medical flashcards dataset</a:t>
            </a:r>
          </a:p>
        </p:txBody>
      </p:sp>
      <p:sp>
        <p:nvSpPr>
          <p:cNvPr id="33" name="Chip3"/>
          <p:cNvSpPr>
            <a:spLocks noGrp="1"/>
          </p:cNvSpPr>
          <p:nvPr/>
        </p:nvSpPr>
        <p:spPr>
          <a:xfrm>
            <a:off x="5592294" y="1141534"/>
            <a:ext cx="1691050" cy="384048"/>
          </a:xfrm>
          <a:prstGeom prst="roundRect">
            <a:avLst>
              <a:gd name="adj" fmla="val 2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</a:rPr>
              <a:t>c4-highcpu-8  ·  $0.42 / hr / node</a:t>
            </a:r>
          </a:p>
        </p:txBody>
      </p:sp>
      <p:sp>
        <p:nvSpPr>
          <p:cNvPr id="34" name="Chip4"/>
          <p:cNvSpPr>
            <a:spLocks noGrp="1"/>
          </p:cNvSpPr>
          <p:nvPr/>
        </p:nvSpPr>
        <p:spPr>
          <a:xfrm>
            <a:off x="7393072" y="1141534"/>
            <a:ext cx="1430888" cy="384048"/>
          </a:xfrm>
          <a:prstGeom prst="roundRect">
            <a:avLst>
              <a:gd name="adj" fmla="val 20000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txBody>
          <a:bodyPr wrap="square" lIns="91440" tIns="45720" rIns="91440" bIns="45720" rtlCol="0" anchor="ctr"/>
          <a:lstStyle/>
          <a:p>
            <a:pPr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</a:rPr>
              <a:t>B-2: 2 nodes   /   B-3: 3 nodes</a:t>
            </a:r>
          </a:p>
        </p:txBody>
      </p:sp>
      <p:sp>
        <p:nvSpPr>
          <p:cNvPr id="21" name="CompSnippet"/>
          <p:cNvSpPr>
            <a:spLocks noGrp="1"/>
          </p:cNvSpPr>
          <p:nvPr/>
        </p:nvSpPr>
        <p:spPr>
          <a:xfrm>
            <a:off x="380330" y="3479292"/>
            <a:ext cx="8503920" cy="146304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/>
          <a:lstStyle/>
          <a:p>
            <a:pPr algn="l">
              <a:buNone/>
            </a:pPr>
            <a:r>
              <a:rPr lang="en-US" sz="1400" b="1" dirty="0">
                <a:solidFill>
                  <a:srgbClr val="1E3A8A"/>
                </a:solidFill>
                <a:latin typeface="Calibri" pitchFamily="34" charset="0"/>
              </a:rPr>
              <a:t>Key results vs baseline:</a:t>
            </a:r>
          </a:p>
          <a:p>
            <a:pPr marL="228600" indent="-228600">
              <a:spcBef>
                <a:spcPts val="80"/>
              </a:spcBef>
              <a:buChar char="•"/>
            </a:pPr>
            <a:r>
              <a:rPr lang="en-US" sz="1100" dirty="0">
                <a:solidFill>
                  <a:srgbClr val="059669"/>
                </a:solidFill>
                <a:latin typeface="Calibri" pitchFamily="34" charset="0"/>
              </a:rPr>
              <a:t>5 commands per run  →  1 kubectl apply   (5× fewer human steps, same GKE infrastructure)</a:t>
            </a:r>
          </a:p>
          <a:p>
            <a:pPr marL="228600" indent="-228600">
              <a:spcBef>
                <a:spcPts val="80"/>
              </a:spcBef>
              <a:buFontTx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</a:rPr>
              <a:t>Training time nearly identical between manual baseline and operator runs</a:t>
            </a:r>
            <a:endParaRPr lang="en-US" sz="1100" dirty="0">
              <a:solidFill>
                <a:srgbClr val="059669"/>
              </a:solidFill>
              <a:latin typeface="Calibri" pitchFamily="34" charset="0"/>
            </a:endParaRPr>
          </a:p>
          <a:p>
            <a:pPr marL="228600" indent="-228600">
              <a:spcBef>
                <a:spcPts val="80"/>
              </a:spcBef>
              <a:buChar char="•"/>
            </a:pPr>
            <a:r>
              <a:rPr lang="en-US" sz="1100" dirty="0">
                <a:solidFill>
                  <a:srgbClr val="1E3A8A"/>
                </a:solidFill>
                <a:latin typeface="Calibri" pitchFamily="34" charset="0"/>
              </a:rPr>
              <a:t>Training quality identical — same eval loss and perplexity at matched node count</a:t>
            </a:r>
          </a:p>
          <a:p>
            <a:pPr marL="228600" indent="-228600">
              <a:spcBef>
                <a:spcPts val="80"/>
              </a:spcBef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</a:rPr>
              <a:t>Cost and provisioning time comparable; collection fully automated via operator</a:t>
            </a:r>
          </a:p>
        </p:txBody>
      </p:sp>
      <p:sp>
        <p:nvSpPr>
          <p:cNvPr id="6" name="Text 3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9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999CFB-B942-29FA-4F65-549D497D07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18" y="1214686"/>
            <a:ext cx="232286" cy="2322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4EB4076-205D-2AF0-8FEF-262C302D6B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35" y="1853320"/>
            <a:ext cx="9018396" cy="143686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9EA40DB-6B76-EDDD-AE7C-B5758EA93F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9480" y="3635132"/>
            <a:ext cx="3053080" cy="955196"/>
          </a:xfrm>
          <a:prstGeom prst="rect">
            <a:avLst/>
          </a:prstGeom>
        </p:spPr>
      </p:pic>
      <p:sp>
        <p:nvSpPr>
          <p:cNvPr id="7" name="Shape 0">
            <a:extLst>
              <a:ext uri="{FF2B5EF4-FFF2-40B4-BE49-F238E27FC236}">
                <a16:creationId xmlns:a16="http://schemas.microsoft.com/office/drawing/2014/main" id="{7B82B20D-1E0A-1992-D298-8E0A720A3572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  <p:bldP spid="32" grpId="0" animBg="1"/>
      <p:bldP spid="33" grpId="0" animBg="1"/>
      <p:bldP spid="34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320040" y="220000"/>
            <a:ext cx="850392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 Tuner: Auto-Selecting Node Count from History</a:t>
            </a:r>
            <a:endParaRPr lang="en-US" sz="2800" dirty="0"/>
          </a:p>
        </p:txBody>
      </p:sp>
      <p:sp>
        <p:nvSpPr>
          <p:cNvPr id="3" name="Divider"/>
          <p:cNvSpPr/>
          <p:nvPr/>
        </p:nvSpPr>
        <p:spPr>
          <a:xfrm>
            <a:off x="320040" y="748000"/>
            <a:ext cx="8503920" cy="200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LeftHdr"/>
          <p:cNvSpPr/>
          <p:nvPr/>
        </p:nvSpPr>
        <p:spPr>
          <a:xfrm>
            <a:off x="133973" y="2593500"/>
            <a:ext cx="40200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75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Tuner Steps</a:t>
            </a:r>
            <a:endParaRPr lang="en-US" sz="875" dirty="0"/>
          </a:p>
        </p:txBody>
      </p:sp>
      <p:sp>
        <p:nvSpPr>
          <p:cNvPr id="5" name="RightHdr"/>
          <p:cNvSpPr/>
          <p:nvPr/>
        </p:nvSpPr>
        <p:spPr>
          <a:xfrm>
            <a:off x="4527837" y="2813500"/>
            <a:ext cx="426392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75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DistributedTrainingHistory CR  —  written by operator after each run</a:t>
            </a:r>
            <a:endParaRPr lang="en-US" sz="875" dirty="0"/>
          </a:p>
        </p:txBody>
      </p:sp>
      <p:sp>
        <p:nvSpPr>
          <p:cNvPr id="6" name="StepBg1"/>
          <p:cNvSpPr/>
          <p:nvPr/>
        </p:nvSpPr>
        <p:spPr>
          <a:xfrm>
            <a:off x="133973" y="2813500"/>
            <a:ext cx="4020000" cy="510000"/>
          </a:xfrm>
          <a:prstGeom prst="rect">
            <a:avLst/>
          </a:prstGeom>
          <a:solidFill>
            <a:srgbClr val="DBEAFE"/>
          </a:solidFill>
          <a:ln w="63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tepBadge1"/>
          <p:cNvSpPr/>
          <p:nvPr/>
        </p:nvSpPr>
        <p:spPr>
          <a:xfrm>
            <a:off x="133973" y="2813500"/>
            <a:ext cx="307982" cy="5100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tepNum1"/>
          <p:cNvSpPr/>
          <p:nvPr/>
        </p:nvSpPr>
        <p:spPr>
          <a:xfrm>
            <a:off x="133973" y="2813500"/>
            <a:ext cx="360000" cy="5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StepTitle1"/>
          <p:cNvSpPr/>
          <p:nvPr/>
        </p:nvSpPr>
        <p:spPr>
          <a:xfrm>
            <a:off x="493973" y="2838500"/>
            <a:ext cx="3660000" cy="18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History</a:t>
            </a:r>
            <a:endParaRPr lang="en-US" sz="1050" dirty="0"/>
          </a:p>
        </p:txBody>
      </p:sp>
      <p:sp>
        <p:nvSpPr>
          <p:cNvPr id="10" name="StepDesc1"/>
          <p:cNvSpPr/>
          <p:nvPr/>
        </p:nvSpPr>
        <p:spPr>
          <a:xfrm>
            <a:off x="493973" y="3033500"/>
            <a:ext cx="3660000" cy="26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75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</a:t>
            </a:r>
            <a:r>
              <a:rPr lang="en-US" sz="875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DistributedJobHistory</a:t>
            </a:r>
            <a:r>
              <a:rPr lang="en-US" sz="875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entries matching config hash; group by node count, find average throughput P per node count.</a:t>
            </a:r>
            <a:endParaRPr lang="en-US" sz="875" dirty="0"/>
          </a:p>
        </p:txBody>
      </p:sp>
      <p:sp>
        <p:nvSpPr>
          <p:cNvPr id="11" name="StepBg2"/>
          <p:cNvSpPr/>
          <p:nvPr/>
        </p:nvSpPr>
        <p:spPr>
          <a:xfrm>
            <a:off x="133973" y="3378500"/>
            <a:ext cx="4020000" cy="510000"/>
          </a:xfrm>
          <a:prstGeom prst="rect">
            <a:avLst/>
          </a:prstGeom>
          <a:solidFill>
            <a:srgbClr val="DBEAFE"/>
          </a:solidFill>
          <a:ln w="63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tepBadge2"/>
          <p:cNvSpPr/>
          <p:nvPr/>
        </p:nvSpPr>
        <p:spPr>
          <a:xfrm>
            <a:off x="133973" y="3378500"/>
            <a:ext cx="307982" cy="5100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tepNum2"/>
          <p:cNvSpPr/>
          <p:nvPr/>
        </p:nvSpPr>
        <p:spPr>
          <a:xfrm>
            <a:off x="133973" y="3378500"/>
            <a:ext cx="360000" cy="5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StepTitle2"/>
          <p:cNvSpPr/>
          <p:nvPr/>
        </p:nvSpPr>
        <p:spPr>
          <a:xfrm>
            <a:off x="493973" y="3403500"/>
            <a:ext cx="3660000" cy="18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 Base Rate</a:t>
            </a:r>
            <a:endParaRPr lang="en-US" sz="1050" dirty="0"/>
          </a:p>
        </p:txBody>
      </p:sp>
      <p:sp>
        <p:nvSpPr>
          <p:cNvPr id="15" name="StepDesc2"/>
          <p:cNvSpPr/>
          <p:nvPr/>
        </p:nvSpPr>
        <p:spPr>
          <a:xfrm>
            <a:off x="493973" y="3598500"/>
            <a:ext cx="3660000" cy="26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75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single node throughput P0 = P_min / </a:t>
            </a:r>
            <a:r>
              <a:rPr lang="en-US" sz="875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n_min</a:t>
            </a:r>
            <a:r>
              <a:rPr lang="en-US" sz="875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Extract total work W and mean provisioning time </a:t>
            </a:r>
            <a:r>
              <a:rPr lang="en-US" sz="875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t_prov</a:t>
            </a:r>
            <a:r>
              <a:rPr lang="en-US" sz="875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prediction.</a:t>
            </a:r>
            <a:endParaRPr lang="en-US" sz="875" dirty="0"/>
          </a:p>
        </p:txBody>
      </p:sp>
      <p:sp>
        <p:nvSpPr>
          <p:cNvPr id="16" name="StepBg3"/>
          <p:cNvSpPr/>
          <p:nvPr/>
        </p:nvSpPr>
        <p:spPr>
          <a:xfrm>
            <a:off x="133973" y="3992784"/>
            <a:ext cx="4020000" cy="510000"/>
          </a:xfrm>
          <a:prstGeom prst="rect">
            <a:avLst/>
          </a:prstGeom>
          <a:solidFill>
            <a:srgbClr val="DBEAFE"/>
          </a:solidFill>
          <a:ln w="63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tepBadge3"/>
          <p:cNvSpPr/>
          <p:nvPr/>
        </p:nvSpPr>
        <p:spPr>
          <a:xfrm>
            <a:off x="133568" y="3992784"/>
            <a:ext cx="307982" cy="5100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tepNum3"/>
          <p:cNvSpPr/>
          <p:nvPr/>
        </p:nvSpPr>
        <p:spPr>
          <a:xfrm>
            <a:off x="117713" y="3986595"/>
            <a:ext cx="360000" cy="5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StepTitle3"/>
          <p:cNvSpPr/>
          <p:nvPr/>
        </p:nvSpPr>
        <p:spPr>
          <a:xfrm>
            <a:off x="477036" y="4001547"/>
            <a:ext cx="3660000" cy="18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α (Scaling Overhead)</a:t>
            </a:r>
            <a:endParaRPr lang="en-US" sz="1050" dirty="0"/>
          </a:p>
        </p:txBody>
      </p:sp>
      <p:sp>
        <p:nvSpPr>
          <p:cNvPr id="20" name="StepDesc3"/>
          <p:cNvSpPr/>
          <p:nvPr/>
        </p:nvSpPr>
        <p:spPr>
          <a:xfrm>
            <a:off x="467559" y="4186547"/>
            <a:ext cx="3660000" cy="26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75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model decay η(n)=1/(1+α(n-1)). Closed-form for 2 history entries; golden-section search for 3+ history entries.</a:t>
            </a:r>
            <a:endParaRPr lang="en-US" sz="875" dirty="0"/>
          </a:p>
        </p:txBody>
      </p:sp>
      <p:sp>
        <p:nvSpPr>
          <p:cNvPr id="21" name="StepBg4"/>
          <p:cNvSpPr/>
          <p:nvPr/>
        </p:nvSpPr>
        <p:spPr>
          <a:xfrm>
            <a:off x="133973" y="4573728"/>
            <a:ext cx="4020000" cy="569771"/>
          </a:xfrm>
          <a:prstGeom prst="rect">
            <a:avLst/>
          </a:prstGeom>
          <a:solidFill>
            <a:srgbClr val="DBEAFE"/>
          </a:solidFill>
          <a:ln w="63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tepBadge4"/>
          <p:cNvSpPr/>
          <p:nvPr/>
        </p:nvSpPr>
        <p:spPr>
          <a:xfrm>
            <a:off x="133568" y="4567577"/>
            <a:ext cx="307982" cy="56496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tepNum4"/>
          <p:cNvSpPr/>
          <p:nvPr/>
        </p:nvSpPr>
        <p:spPr>
          <a:xfrm>
            <a:off x="100098" y="4551595"/>
            <a:ext cx="360000" cy="5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StepTitle4"/>
          <p:cNvSpPr/>
          <p:nvPr/>
        </p:nvSpPr>
        <p:spPr>
          <a:xfrm>
            <a:off x="467559" y="4577317"/>
            <a:ext cx="3660000" cy="18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Optimal Number of Nodes </a:t>
            </a:r>
            <a:endParaRPr lang="en-US" sz="1050" dirty="0"/>
          </a:p>
        </p:txBody>
      </p:sp>
      <p:sp>
        <p:nvSpPr>
          <p:cNvPr id="25" name="StepDesc4"/>
          <p:cNvSpPr/>
          <p:nvPr/>
        </p:nvSpPr>
        <p:spPr>
          <a:xfrm>
            <a:off x="475020" y="4737810"/>
            <a:ext cx="3652539" cy="26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75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T(n) and Cost(n) per candidate; pick smallest n meeting </a:t>
            </a:r>
            <a:r>
              <a:rPr lang="en-US" sz="875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targetTime</a:t>
            </a:r>
            <a:r>
              <a:rPr lang="en-US" sz="875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largest n within </a:t>
            </a:r>
            <a:r>
              <a:rPr lang="en-US" sz="875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maxCost</a:t>
            </a:r>
            <a:r>
              <a:rPr lang="en-US" sz="875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or when both given, satisfy time first then reduce n until cost fits.</a:t>
            </a:r>
            <a:endParaRPr lang="en-US" sz="875" dirty="0"/>
          </a:p>
        </p:txBody>
      </p:sp>
      <p:sp>
        <p:nvSpPr>
          <p:cNvPr id="26" name="YamlBox"/>
          <p:cNvSpPr/>
          <p:nvPr/>
        </p:nvSpPr>
        <p:spPr>
          <a:xfrm>
            <a:off x="4531943" y="3022332"/>
            <a:ext cx="4263920" cy="1974240"/>
          </a:xfrm>
          <a:prstGeom prst="rect">
            <a:avLst/>
          </a:prstGeom>
          <a:solidFill>
            <a:srgbClr val="DBEAFE"/>
          </a:solidFill>
          <a:ln w="952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YamlText"/>
          <p:cNvSpPr/>
          <p:nvPr/>
        </p:nvSpPr>
        <p:spPr>
          <a:xfrm>
            <a:off x="4567894" y="3055832"/>
            <a:ext cx="4111902" cy="1888776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800" dirty="0">
                <a:solidFill>
                  <a:srgbClr val="1E3A8A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apiVersion: training.distributedtraining.io/v1</a:t>
            </a:r>
          </a:p>
          <a:p>
            <a:pPr marL="0" indent="0" algn="l">
              <a:lnSpc>
                <a:spcPts val="900"/>
              </a:lnSpc>
              <a:buNone/>
            </a:pPr>
            <a:r>
              <a:rPr lang="en-US" sz="800" dirty="0">
                <a:solidFill>
                  <a:srgbClr val="1E3A8A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kind: DistributedTrainingHistory</a:t>
            </a:r>
          </a:p>
          <a:p>
            <a:pPr marL="0" indent="0" algn="l">
              <a:lnSpc>
                <a:spcPts val="900"/>
              </a:lnSpc>
              <a:buNone/>
            </a:pPr>
            <a:r>
              <a:rPr lang="en-US" sz="800" dirty="0">
                <a:solidFill>
                  <a:srgbClr val="1E3A8A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metadata:</a:t>
            </a:r>
          </a:p>
          <a:p>
            <a:pPr marL="0" indent="0" algn="l">
              <a:lnSpc>
                <a:spcPts val="900"/>
              </a:lnSpc>
              <a:buNone/>
            </a:pPr>
            <a:r>
              <a:rPr lang="en-US" sz="800" dirty="0">
                <a:solidFill>
                  <a:srgbClr val="1E3A8A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  labels:</a:t>
            </a:r>
          </a:p>
          <a:p>
            <a:pPr marL="0" indent="0" algn="l">
              <a:lnSpc>
                <a:spcPts val="900"/>
              </a:lnSpc>
              <a:buNone/>
            </a:pPr>
            <a:r>
              <a:rPr lang="en-US" sz="800" dirty="0">
                <a:solidFill>
                  <a:srgbClr val="1E3A8A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    config-hash: 57c363d8...997d</a:t>
            </a:r>
          </a:p>
          <a:p>
            <a:pPr marL="0" indent="0" algn="l">
              <a:lnSpc>
                <a:spcPts val="900"/>
              </a:lnSpc>
              <a:buNone/>
            </a:pPr>
            <a:r>
              <a:rPr lang="en-US" sz="800" dirty="0">
                <a:solidFill>
                  <a:srgbClr val="1E3A8A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  name: djh-disttraining-cal-3node-kpbfz</a:t>
            </a:r>
          </a:p>
          <a:p>
            <a:pPr marL="0" indent="0" algn="l">
              <a:lnSpc>
                <a:spcPts val="900"/>
              </a:lnSpc>
              <a:buNone/>
            </a:pPr>
            <a:r>
              <a:rPr lang="en-US" sz="800" dirty="0">
                <a:solidFill>
                  <a:srgbClr val="1E3A8A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spec:</a:t>
            </a:r>
          </a:p>
          <a:p>
            <a:pPr marL="0" indent="0" algn="l">
              <a:lnSpc>
                <a:spcPts val="900"/>
              </a:lnSpc>
              <a:buNone/>
            </a:pPr>
            <a:r>
              <a:rPr lang="en-US" sz="800" dirty="0">
                <a:solidFill>
                  <a:srgbClr val="1E3A8A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  backend: pytorch</a:t>
            </a:r>
          </a:p>
          <a:p>
            <a:pPr marL="0" indent="0" algn="l">
              <a:lnSpc>
                <a:spcPts val="900"/>
              </a:lnSpc>
              <a:buNone/>
            </a:pPr>
            <a:r>
              <a:rPr lang="en-US" sz="800" dirty="0">
                <a:solidFill>
                  <a:srgbClr val="1E3A8A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  configHash: 57c363d8...997d</a:t>
            </a:r>
          </a:p>
          <a:p>
            <a:pPr marL="0" indent="0" algn="l">
              <a:lnSpc>
                <a:spcPts val="900"/>
              </a:lnSpc>
              <a:buNone/>
            </a:pPr>
            <a:r>
              <a:rPr lang="en-US" sz="800" dirty="0">
                <a:solidFill>
                  <a:srgbClr val="1E3A8A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  machineType: c4-highcpu-8</a:t>
            </a:r>
          </a:p>
          <a:p>
            <a:pPr marL="0" indent="0" algn="l">
              <a:lnSpc>
                <a:spcPts val="900"/>
              </a:lnSpc>
              <a:buNone/>
            </a:pPr>
            <a:r>
              <a:rPr lang="en-US" sz="800" dirty="0">
                <a:solidFill>
                  <a:srgbClr val="1E3A8A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  nodes: 3</a:t>
            </a:r>
          </a:p>
          <a:p>
            <a:pPr marL="0" indent="0" algn="l">
              <a:lnSpc>
                <a:spcPts val="900"/>
              </a:lnSpc>
              <a:buNone/>
            </a:pPr>
            <a:r>
              <a:rPr lang="en-US" sz="800" dirty="0">
                <a:solidFill>
                  <a:srgbClr val="1E3A8A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  provisioningSeconds: '82'</a:t>
            </a:r>
          </a:p>
          <a:p>
            <a:pPr marL="0" indent="0" algn="l">
              <a:lnSpc>
                <a:spcPts val="900"/>
              </a:lnSpc>
              <a:buNone/>
            </a:pPr>
            <a:r>
              <a:rPr lang="en-US" sz="800" dirty="0">
                <a:solidFill>
                  <a:srgbClr val="1E3A8A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  throughput: 26270793037n</a:t>
            </a:r>
          </a:p>
          <a:p>
            <a:pPr marL="0" indent="0" algn="l">
              <a:lnSpc>
                <a:spcPts val="900"/>
              </a:lnSpc>
              <a:buNone/>
            </a:pPr>
            <a:r>
              <a:rPr lang="en-US" sz="800" dirty="0">
                <a:solidFill>
                  <a:srgbClr val="1E3A8A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  totalWork: '27164'</a:t>
            </a:r>
          </a:p>
          <a:p>
            <a:pPr marL="0" indent="0" algn="l">
              <a:lnSpc>
                <a:spcPts val="900"/>
              </a:lnSpc>
              <a:buNone/>
            </a:pPr>
            <a:r>
              <a:rPr lang="en-US" sz="800" dirty="0">
                <a:solidFill>
                  <a:srgbClr val="1E3A8A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  trainingSeconds: '1034'</a:t>
            </a:r>
          </a:p>
        </p:txBody>
      </p:sp>
      <p:sp>
        <p:nvSpPr>
          <p:cNvPr id="28" name="PageNum"/>
          <p:cNvSpPr/>
          <p:nvPr/>
        </p:nvSpPr>
        <p:spPr>
          <a:xfrm>
            <a:off x="8503920" y="490000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900" dirty="0"/>
          </a:p>
        </p:txBody>
      </p:sp>
      <p:sp>
        <p:nvSpPr>
          <p:cNvPr id="51" name="DiagLabel"/>
          <p:cNvSpPr/>
          <p:nvPr/>
        </p:nvSpPr>
        <p:spPr>
          <a:xfrm>
            <a:off x="220040" y="809320"/>
            <a:ext cx="850392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Shift: from static node count to declaring an objective</a:t>
            </a:r>
            <a:endParaRPr lang="en-US" sz="950" dirty="0"/>
          </a:p>
        </p:txBody>
      </p:sp>
      <p:sp>
        <p:nvSpPr>
          <p:cNvPr id="52" name="BeforeBg"/>
          <p:cNvSpPr/>
          <p:nvPr/>
        </p:nvSpPr>
        <p:spPr>
          <a:xfrm>
            <a:off x="220040" y="1102263"/>
            <a:ext cx="3800000" cy="14200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BeforeHdr"/>
          <p:cNvSpPr/>
          <p:nvPr/>
        </p:nvSpPr>
        <p:spPr>
          <a:xfrm>
            <a:off x="220040" y="1073088"/>
            <a:ext cx="3800000" cy="280000"/>
          </a:xfrm>
          <a:prstGeom prst="round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BeforeHdrTxt"/>
          <p:cNvSpPr/>
          <p:nvPr/>
        </p:nvSpPr>
        <p:spPr>
          <a:xfrm>
            <a:off x="248247" y="1060000"/>
            <a:ext cx="364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— Static Node Count</a:t>
            </a:r>
            <a:endParaRPr lang="en-US" sz="1000" dirty="0"/>
          </a:p>
        </p:txBody>
      </p:sp>
      <p:sp>
        <p:nvSpPr>
          <p:cNvPr id="55" name="BeforeCode"/>
          <p:cNvSpPr/>
          <p:nvPr/>
        </p:nvSpPr>
        <p:spPr>
          <a:xfrm>
            <a:off x="268247" y="1390000"/>
            <a:ext cx="360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5"/>
              </a:lnSpc>
              <a:buNone/>
            </a:pPr>
            <a:r>
              <a:rPr lang="en-US" sz="750" dirty="0">
                <a:solidFill>
                  <a:srgbClr val="374151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spec:</a:t>
            </a:r>
          </a:p>
          <a:p>
            <a:pPr marL="0" indent="0" algn="l">
              <a:lnSpc>
                <a:spcPts val="875"/>
              </a:lnSpc>
              <a:buNone/>
            </a:pPr>
            <a:r>
              <a:rPr lang="en-US" sz="750" dirty="0">
                <a:solidFill>
                  <a:srgbClr val="374151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  topology</a:t>
            </a:r>
          </a:p>
          <a:p>
            <a:pPr marL="0" indent="0" algn="l">
              <a:lnSpc>
                <a:spcPts val="875"/>
              </a:lnSpc>
              <a:buNone/>
            </a:pPr>
            <a:r>
              <a:rPr lang="en-US" sz="750" dirty="0">
                <a:solidFill>
                  <a:srgbClr val="374151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    nodes: 3       </a:t>
            </a:r>
          </a:p>
          <a:p>
            <a:pPr marL="0" indent="0" algn="l">
              <a:lnSpc>
                <a:spcPts val="875"/>
              </a:lnSpc>
              <a:buNone/>
            </a:pPr>
            <a:r>
              <a:rPr lang="en-US" sz="750" dirty="0">
                <a:solidFill>
                  <a:srgbClr val="374151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  backend: </a:t>
            </a:r>
            <a:r>
              <a:rPr lang="en-US" sz="750" dirty="0" err="1">
                <a:solidFill>
                  <a:srgbClr val="374151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pytorch</a:t>
            </a:r>
            <a:endParaRPr lang="en-US" sz="750" dirty="0">
              <a:solidFill>
                <a:srgbClr val="374151"/>
              </a:solidFill>
              <a:latin typeface="Consolas" pitchFamily="49" charset="0"/>
              <a:ea typeface="Consolas" pitchFamily="49" charset="-122"/>
              <a:cs typeface="Consolas" pitchFamily="49" charset="-120"/>
            </a:endParaRPr>
          </a:p>
          <a:p>
            <a:pPr marL="0" indent="0" algn="l">
              <a:lnSpc>
                <a:spcPts val="875"/>
              </a:lnSpc>
              <a:buNone/>
            </a:pPr>
            <a:endParaRPr lang="en-US" sz="750" dirty="0">
              <a:solidFill>
                <a:srgbClr val="374151"/>
              </a:solidFill>
              <a:latin typeface="Consolas" pitchFamily="49" charset="0"/>
              <a:ea typeface="Consolas" pitchFamily="49" charset="-122"/>
              <a:cs typeface="Consolas" pitchFamily="49" charset="-120"/>
            </a:endParaRPr>
          </a:p>
          <a:p>
            <a:pPr marL="0" indent="0" algn="l">
              <a:lnSpc>
                <a:spcPts val="875"/>
              </a:lnSpc>
              <a:buNone/>
            </a:pPr>
            <a:r>
              <a:rPr lang="en-US" sz="750" dirty="0">
                <a:solidFill>
                  <a:srgbClr val="374151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  # no memory between runs</a:t>
            </a:r>
          </a:p>
        </p:txBody>
      </p:sp>
      <p:sp>
        <p:nvSpPr>
          <p:cNvPr id="56" name="BeforeCap"/>
          <p:cNvSpPr/>
          <p:nvPr/>
        </p:nvSpPr>
        <p:spPr>
          <a:xfrm>
            <a:off x="248247" y="2220000"/>
            <a:ext cx="364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5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manually picks N; operator runs with that exact count.</a:t>
            </a:r>
            <a:endParaRPr lang="en-US" sz="825" dirty="0"/>
          </a:p>
        </p:txBody>
      </p:sp>
      <p:sp>
        <p:nvSpPr>
          <p:cNvPr id="58" name="ArrowBox"/>
          <p:cNvSpPr/>
          <p:nvPr/>
        </p:nvSpPr>
        <p:spPr>
          <a:xfrm>
            <a:off x="4137036" y="1453941"/>
            <a:ext cx="600000" cy="500000"/>
          </a:xfrm>
          <a:prstGeom prst="rightArrow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AfterBg"/>
          <p:cNvSpPr/>
          <p:nvPr/>
        </p:nvSpPr>
        <p:spPr>
          <a:xfrm>
            <a:off x="4879982" y="1075019"/>
            <a:ext cx="3803920" cy="14200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AfterHdr"/>
          <p:cNvSpPr/>
          <p:nvPr/>
        </p:nvSpPr>
        <p:spPr>
          <a:xfrm>
            <a:off x="4879982" y="1075019"/>
            <a:ext cx="3803920" cy="280000"/>
          </a:xfrm>
          <a:prstGeom prst="round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AfterHdrTxt"/>
          <p:cNvSpPr/>
          <p:nvPr/>
        </p:nvSpPr>
        <p:spPr>
          <a:xfrm>
            <a:off x="4959982" y="1075019"/>
            <a:ext cx="364392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— Declare an Objective</a:t>
            </a:r>
            <a:endParaRPr lang="en-US" sz="1000" dirty="0"/>
          </a:p>
        </p:txBody>
      </p:sp>
      <p:sp>
        <p:nvSpPr>
          <p:cNvPr id="62" name="AfterCode"/>
          <p:cNvSpPr/>
          <p:nvPr/>
        </p:nvSpPr>
        <p:spPr>
          <a:xfrm>
            <a:off x="4979982" y="1405019"/>
            <a:ext cx="360392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75"/>
              </a:lnSpc>
              <a:buNone/>
            </a:pPr>
            <a:r>
              <a:rPr lang="en-US" sz="750" dirty="0">
                <a:solidFill>
                  <a:srgbClr val="374151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spec:</a:t>
            </a:r>
          </a:p>
          <a:p>
            <a:pPr marL="0" indent="0" algn="l">
              <a:lnSpc>
                <a:spcPts val="875"/>
              </a:lnSpc>
              <a:buNone/>
            </a:pPr>
            <a:r>
              <a:rPr lang="en-US" sz="750" dirty="0">
                <a:solidFill>
                  <a:srgbClr val="374151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  objective:</a:t>
            </a:r>
          </a:p>
          <a:p>
            <a:pPr marL="0" indent="0" algn="l">
              <a:lnSpc>
                <a:spcPts val="875"/>
              </a:lnSpc>
              <a:buNone/>
            </a:pPr>
            <a:r>
              <a:rPr lang="en-US" sz="750" dirty="0">
                <a:solidFill>
                  <a:srgbClr val="374151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    targetTime: "10m"</a:t>
            </a:r>
          </a:p>
          <a:p>
            <a:pPr marL="0" indent="0" algn="l">
              <a:lnSpc>
                <a:spcPts val="875"/>
              </a:lnSpc>
              <a:buNone/>
            </a:pPr>
            <a:r>
              <a:rPr lang="en-US" sz="750" dirty="0">
                <a:solidFill>
                  <a:srgbClr val="374151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    maxCost:    “1"</a:t>
            </a:r>
          </a:p>
          <a:p>
            <a:pPr marL="0" indent="0" algn="l">
              <a:lnSpc>
                <a:spcPts val="875"/>
              </a:lnSpc>
              <a:buNone/>
            </a:pPr>
            <a:r>
              <a:rPr lang="en-US" sz="750" dirty="0">
                <a:solidFill>
                  <a:srgbClr val="374151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    maxNodes:   10</a:t>
            </a:r>
          </a:p>
          <a:p>
            <a:pPr marL="0" indent="0" algn="l">
              <a:lnSpc>
                <a:spcPts val="875"/>
              </a:lnSpc>
              <a:buNone/>
            </a:pPr>
            <a:r>
              <a:rPr lang="en-US" sz="750" dirty="0">
                <a:solidFill>
                  <a:srgbClr val="374151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...</a:t>
            </a:r>
          </a:p>
        </p:txBody>
      </p:sp>
      <p:sp>
        <p:nvSpPr>
          <p:cNvPr id="63" name="AfterCap"/>
          <p:cNvSpPr/>
          <p:nvPr/>
        </p:nvSpPr>
        <p:spPr>
          <a:xfrm>
            <a:off x="4979982" y="2234219"/>
            <a:ext cx="364392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5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infers optimal N from history; satisfies objective automatically.</a:t>
            </a:r>
            <a:endParaRPr lang="en-US" sz="825" dirty="0"/>
          </a:p>
        </p:txBody>
      </p:sp>
      <p:sp>
        <p:nvSpPr>
          <p:cNvPr id="71" name="Shape 0">
            <a:extLst>
              <a:ext uri="{FF2B5EF4-FFF2-40B4-BE49-F238E27FC236}">
                <a16:creationId xmlns:a16="http://schemas.microsoft.com/office/drawing/2014/main" id="{7C9D5BEE-4C76-540F-48FE-F118FE294DD8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Tuner Accuracy: Prediction Converges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8138160" cy="274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4327" y="2511361"/>
            <a:ext cx="4206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A1: 3.3% — tuner fitted from only 2 calibration points</a:t>
            </a:r>
            <a:endParaRPr lang="en-US" sz="11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A2: 2% — alpha refitted with 3rd history entry. Faster than predicted time</a:t>
            </a:r>
            <a:endParaRPr lang="en-US" sz="11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A3: 2.5% — error increase; but lower number of nodes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B: 3.8% — different objective, similar prediction error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20040" y="361188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 used: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0040" y="3822192"/>
            <a:ext cx="1965960" cy="896112"/>
          </a:xfrm>
          <a:prstGeom prst="rect">
            <a:avLst/>
          </a:prstGeom>
          <a:solidFill>
            <a:srgbClr val="DBEAFE"/>
          </a:solidFill>
          <a:ln w="9525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93192" y="3840480"/>
            <a:ext cx="18196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Objective A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objective: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targetTime: "10m"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maxCost: “10"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maxNodes: 10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423160" y="3822192"/>
            <a:ext cx="1965960" cy="896112"/>
          </a:xfrm>
          <a:prstGeom prst="rect">
            <a:avLst/>
          </a:prstGeom>
          <a:solidFill>
            <a:srgbClr val="DBEAFE"/>
          </a:solidFill>
          <a:ln w="9525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496312" y="3840480"/>
            <a:ext cx="18196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Objective B (tighter)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objective: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targetTime: "7m"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maxCost: "10"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maxNodes: 15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9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58313CF-CA44-D7D6-66E8-E110AC9E60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010" y="1194354"/>
            <a:ext cx="4450684" cy="115085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F7C9775-9F79-7CC2-7352-180B94C15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35" y="1194354"/>
            <a:ext cx="4390125" cy="110876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6E7BC9B-F710-5E2A-FD7E-892A8BC9F9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2550804"/>
            <a:ext cx="4526280" cy="2115582"/>
          </a:xfrm>
          <a:prstGeom prst="rect">
            <a:avLst/>
          </a:prstGeom>
        </p:spPr>
      </p:pic>
      <p:sp>
        <p:nvSpPr>
          <p:cNvPr id="5" name="Shape 0">
            <a:extLst>
              <a:ext uri="{FF2B5EF4-FFF2-40B4-BE49-F238E27FC236}">
                <a16:creationId xmlns:a16="http://schemas.microsoft.com/office/drawing/2014/main" id="{5F643E9B-01AB-6EF9-50CE-1708CDC27894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Limitations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8138160" cy="274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1124712"/>
            <a:ext cx="8503920" cy="594360"/>
          </a:xfrm>
          <a:prstGeom prst="rect">
            <a:avLst/>
          </a:prstGeom>
          <a:solidFill>
            <a:srgbClr val="DBEAFE"/>
          </a:solidFill>
          <a:ln w="63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124712"/>
            <a:ext cx="548640" cy="59436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124712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1704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with zero quality cost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1426464"/>
            <a:ext cx="7680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reproduces baseline training exactly (loss, perplexity, throughput) while reducing the per-run workflow from 5 commands to 1.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1792224"/>
            <a:ext cx="8503920" cy="594360"/>
          </a:xfrm>
          <a:prstGeom prst="rect">
            <a:avLst/>
          </a:prstGeom>
          <a:solidFill>
            <a:srgbClr val="DBEAFE"/>
          </a:solidFill>
          <a:ln w="63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0040" y="1792224"/>
            <a:ext cx="548640" cy="59436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" y="1792224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05840" y="183794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model improves with use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05840" y="2093976"/>
            <a:ext cx="7680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calibrations give sub-7% time prediction. Alpha stabilizes as history grows.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" y="2459736"/>
            <a:ext cx="8503920" cy="594360"/>
          </a:xfrm>
          <a:prstGeom prst="rect">
            <a:avLst/>
          </a:prstGeom>
          <a:solidFill>
            <a:srgbClr val="DBEAFE"/>
          </a:solidFill>
          <a:ln w="63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459736"/>
            <a:ext cx="548640" cy="59436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2459736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05840" y="250545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Objective-driven scaling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05840" y="2761488"/>
            <a:ext cx="7680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declares a time/cost objective; tuner computes number of nodes from historical data.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3355848"/>
            <a:ext cx="8503920" cy="274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20040" y="3459346"/>
            <a:ext cx="10063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20040" y="3776472"/>
            <a:ext cx="2743200" cy="868680"/>
          </a:xfrm>
          <a:prstGeom prst="rect">
            <a:avLst/>
          </a:prstGeom>
          <a:solidFill>
            <a:srgbClr val="FEF9C3"/>
          </a:solidFill>
          <a:ln w="9525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11480" y="38221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Constant-α model assumption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1480" y="4096512"/>
            <a:ext cx="2560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serial fraction does not capture non-linear scaling at high node counts. A piecewise or per-N model would extend the accurate range.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27832" y="3776472"/>
            <a:ext cx="2743200" cy="868680"/>
          </a:xfrm>
          <a:prstGeom prst="rect">
            <a:avLst/>
          </a:prstGeom>
          <a:solidFill>
            <a:srgbClr val="FEF9C3"/>
          </a:solidFill>
          <a:ln w="9525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319272" y="38221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time absorbed into α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319272" y="4096512"/>
            <a:ext cx="2560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Post-training HuggingFace evaluation is fixed overhead folded into the scaling fit; modeling a separate T_eval term would sharpen predictions.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35624" y="3776472"/>
            <a:ext cx="2743200" cy="868680"/>
          </a:xfrm>
          <a:prstGeom prst="rect">
            <a:avLst/>
          </a:prstGeom>
          <a:solidFill>
            <a:srgbClr val="FEF9C3"/>
          </a:solidFill>
          <a:ln w="9525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227064" y="38221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cloud provider and backend validated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27064" y="4096512"/>
            <a:ext cx="2560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GKE (CPU/gloo) is measured end-to-end. EKS/AKS interfaces and other backends are designed but not implemented.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900" dirty="0"/>
          </a:p>
        </p:txBody>
      </p:sp>
      <p:sp>
        <p:nvSpPr>
          <p:cNvPr id="32" name="Shape 0">
            <a:extLst>
              <a:ext uri="{FF2B5EF4-FFF2-40B4-BE49-F238E27FC236}">
                <a16:creationId xmlns:a16="http://schemas.microsoft.com/office/drawing/2014/main" id="{18809731-E0D6-BA64-4370-38B1C2AD9A39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94360" y="137160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94360" y="23317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i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94360" y="2944368"/>
            <a:ext cx="7955280" cy="274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30906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code: github.com/JonMukaj/distributed-training-operator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34015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 Mukaj  ·  Praktikum 2  ·  Supervisor: Prof. Enes Bajrovic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Kubernetes Operator?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8138160" cy="274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99098" y="1459733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/>
              <a:t>Kubernetes manages built-in resources (Pods, Services, Deployments). Operators extend it with custom types and operational logic.</a:t>
            </a:r>
          </a:p>
        </p:txBody>
      </p:sp>
      <p:sp>
        <p:nvSpPr>
          <p:cNvPr id="5" name="Text 3"/>
          <p:cNvSpPr/>
          <p:nvPr/>
        </p:nvSpPr>
        <p:spPr>
          <a:xfrm>
            <a:off x="182881" y="2291184"/>
            <a:ext cx="4297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extend the Kubernetes API by introducing new resource types (CRDs) the cluster understands natively.</a:t>
            </a:r>
            <a:endParaRPr lang="en-US" sz="1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00" dirty="0"/>
              <a:t>A CRD defines the schema for a custom resource, </a:t>
            </a: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desired state (spec) and observed state (status).</a:t>
            </a:r>
          </a:p>
          <a:p>
            <a:pPr marL="342900" indent="-342900" algn="l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Controller (</a:t>
            </a:r>
            <a:r>
              <a:rPr lang="en-US" sz="12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</a:t>
            </a: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Deployment object) watches those resources and runs a reconcile loop, observe actual state, compare to desired, act to close the gap.</a:t>
            </a:r>
            <a:endParaRPr lang="en-US" sz="1200" dirty="0"/>
          </a:p>
        </p:txBody>
      </p:sp>
      <p:pic>
        <p:nvPicPr>
          <p:cNvPr id="6" name="Image 0" descr="/sessions/exciting-loving-carson/mnt/praktikum2/graphic_what-are-kubernetes-operato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0" y="1425614"/>
            <a:ext cx="4632960" cy="205854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663440" y="3653626"/>
            <a:ext cx="4206240" cy="384048"/>
          </a:xfrm>
          <a:prstGeom prst="rect">
            <a:avLst/>
          </a:prstGeom>
          <a:solidFill>
            <a:srgbClr val="FEF9C3"/>
          </a:solidFill>
          <a:ln w="9525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663440" y="3653626"/>
            <a:ext cx="4206240" cy="3840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CRD + Controller = Operator Pattern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30D28-B791-DBE6-DBCD-843258F16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D93C63-A39D-B4AC-C441-5823227A03FF}"/>
              </a:ext>
            </a:extLst>
          </p:cNvPr>
          <p:cNvSpPr/>
          <p:nvPr/>
        </p:nvSpPr>
        <p:spPr>
          <a:xfrm>
            <a:off x="502920" y="27432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Solver Works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962E801-2DFB-6C3C-03B5-901F1D492338}"/>
              </a:ext>
            </a:extLst>
          </p:cNvPr>
          <p:cNvSpPr/>
          <p:nvPr/>
        </p:nvSpPr>
        <p:spPr>
          <a:xfrm>
            <a:off x="502920" y="932688"/>
            <a:ext cx="8138160" cy="274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7FDD543-020B-A86E-A603-B2BA26EE54F8}"/>
              </a:ext>
            </a:extLst>
          </p:cNvPr>
          <p:cNvSpPr/>
          <p:nvPr/>
        </p:nvSpPr>
        <p:spPr>
          <a:xfrm>
            <a:off x="320040" y="1051560"/>
            <a:ext cx="8503920" cy="850392"/>
          </a:xfrm>
          <a:prstGeom prst="rect">
            <a:avLst/>
          </a:prstGeom>
          <a:solidFill>
            <a:srgbClr val="DBEAFE"/>
          </a:solidFill>
          <a:ln w="63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35CE5A0-E61B-AD0C-A71E-E50B6420CC35}"/>
              </a:ext>
            </a:extLst>
          </p:cNvPr>
          <p:cNvSpPr/>
          <p:nvPr/>
        </p:nvSpPr>
        <p:spPr>
          <a:xfrm>
            <a:off x="320040" y="1051560"/>
            <a:ext cx="502920" cy="85039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4B3055E-AA84-61A4-152B-37637B2A97D8}"/>
              </a:ext>
            </a:extLst>
          </p:cNvPr>
          <p:cNvSpPr/>
          <p:nvPr/>
        </p:nvSpPr>
        <p:spPr>
          <a:xfrm>
            <a:off x="320040" y="1051560"/>
            <a:ext cx="502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C96E7CA-2049-11AA-D6FA-E85CC7C24CD5}"/>
              </a:ext>
            </a:extLst>
          </p:cNvPr>
          <p:cNvSpPr/>
          <p:nvPr/>
        </p:nvSpPr>
        <p:spPr>
          <a:xfrm>
            <a:off x="914400" y="110642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history</a:t>
            </a:r>
            <a:endParaRPr lang="en-US" sz="11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CAAA716-4E1E-A7CD-D243-DB8CA81B568D}"/>
              </a:ext>
            </a:extLst>
          </p:cNvPr>
          <p:cNvSpPr/>
          <p:nvPr/>
        </p:nvSpPr>
        <p:spPr>
          <a:xfrm>
            <a:off x="914400" y="1362456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DistributedJobHistory entries for this workload (same config hash). Group by node count N, average throughput P_k per group.</a:t>
            </a:r>
            <a:endParaRPr lang="en-US" sz="95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71E8AB75-01E6-2730-1C78-146D1D18B83A}"/>
              </a:ext>
            </a:extLst>
          </p:cNvPr>
          <p:cNvSpPr/>
          <p:nvPr/>
        </p:nvSpPr>
        <p:spPr>
          <a:xfrm>
            <a:off x="320040" y="1956816"/>
            <a:ext cx="8503920" cy="850392"/>
          </a:xfrm>
          <a:prstGeom prst="rect">
            <a:avLst/>
          </a:prstGeom>
          <a:solidFill>
            <a:srgbClr val="DBEAFE"/>
          </a:solidFill>
          <a:ln w="63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843DB91-234D-C4F0-F767-8858B4E4EA86}"/>
              </a:ext>
            </a:extLst>
          </p:cNvPr>
          <p:cNvSpPr/>
          <p:nvPr/>
        </p:nvSpPr>
        <p:spPr>
          <a:xfrm>
            <a:off x="320040" y="1956816"/>
            <a:ext cx="502920" cy="85039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EF78F5F-07B2-18CA-55A7-FB49AB081A52}"/>
              </a:ext>
            </a:extLst>
          </p:cNvPr>
          <p:cNvSpPr/>
          <p:nvPr/>
        </p:nvSpPr>
        <p:spPr>
          <a:xfrm>
            <a:off x="320040" y="1956816"/>
            <a:ext cx="502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51A0E89-B6C3-2212-B214-F644B94A9257}"/>
              </a:ext>
            </a:extLst>
          </p:cNvPr>
          <p:cNvSpPr/>
          <p:nvPr/>
        </p:nvSpPr>
        <p:spPr>
          <a:xfrm>
            <a:off x="914400" y="201168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base parameters from history</a:t>
            </a:r>
            <a:endParaRPr lang="en-US" sz="11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0B02776-AB15-2C41-68DE-39E9566FC91E}"/>
              </a:ext>
            </a:extLst>
          </p:cNvPr>
          <p:cNvSpPr/>
          <p:nvPr/>
        </p:nvSpPr>
        <p:spPr>
          <a:xfrm>
            <a:off x="914400" y="2267712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smallest observed N (n_min):</a:t>
            </a:r>
            <a:endParaRPr lang="en-US" sz="95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51269B5E-46E2-26A1-BAD5-481B26CFC0E4}"/>
              </a:ext>
            </a:extLst>
          </p:cNvPr>
          <p:cNvSpPr/>
          <p:nvPr/>
        </p:nvSpPr>
        <p:spPr>
          <a:xfrm>
            <a:off x="3429000" y="2011680"/>
            <a:ext cx="5257800" cy="740664"/>
          </a:xfrm>
          <a:prstGeom prst="rect">
            <a:avLst/>
          </a:prstGeom>
          <a:solidFill>
            <a:srgbClr val="FFFFFF"/>
          </a:solidFill>
          <a:ln w="63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E4FAB64F-48A5-6F09-38F2-24238E00CC9F}"/>
              </a:ext>
            </a:extLst>
          </p:cNvPr>
          <p:cNvSpPr/>
          <p:nvPr/>
        </p:nvSpPr>
        <p:spPr>
          <a:xfrm>
            <a:off x="3520440" y="2029968"/>
            <a:ext cx="5074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 = avg(T_k × P_k)          total work (samples), constant per workload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p0 = avg(P_k) / n_min       per-node baseline throughput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T_prov = avg(provisioning_s) average provisioning time</a:t>
            </a:r>
          </a:p>
          <a:p>
            <a:pPr marL="0" indent="0" algn="l">
              <a:buNone/>
            </a:pPr>
            <a:endParaRPr lang="en-US" sz="85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F843411-EA17-20AE-F3B5-9B704B53D263}"/>
              </a:ext>
            </a:extLst>
          </p:cNvPr>
          <p:cNvSpPr/>
          <p:nvPr/>
        </p:nvSpPr>
        <p:spPr>
          <a:xfrm>
            <a:off x="320040" y="2862072"/>
            <a:ext cx="8503920" cy="850392"/>
          </a:xfrm>
          <a:prstGeom prst="rect">
            <a:avLst/>
          </a:prstGeom>
          <a:solidFill>
            <a:srgbClr val="DBEAFE"/>
          </a:solidFill>
          <a:ln w="63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C34145AD-3995-B631-FB30-B30DA23646C2}"/>
              </a:ext>
            </a:extLst>
          </p:cNvPr>
          <p:cNvSpPr/>
          <p:nvPr/>
        </p:nvSpPr>
        <p:spPr>
          <a:xfrm>
            <a:off x="320040" y="2862072"/>
            <a:ext cx="502920" cy="85039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96C841D7-2A8F-871D-70D7-616A693513BA}"/>
              </a:ext>
            </a:extLst>
          </p:cNvPr>
          <p:cNvSpPr/>
          <p:nvPr/>
        </p:nvSpPr>
        <p:spPr>
          <a:xfrm>
            <a:off x="320040" y="2862072"/>
            <a:ext cx="502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8E8A3124-1289-B6AE-8399-E1A68B7FE023}"/>
              </a:ext>
            </a:extLst>
          </p:cNvPr>
          <p:cNvSpPr/>
          <p:nvPr/>
        </p:nvSpPr>
        <p:spPr>
          <a:xfrm>
            <a:off x="914400" y="291693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alpha — scaling overhead</a:t>
            </a:r>
            <a:endParaRPr lang="en-US" sz="11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2C41CA76-100D-603D-CF39-BA41AD0102B6}"/>
              </a:ext>
            </a:extLst>
          </p:cNvPr>
          <p:cNvSpPr/>
          <p:nvPr/>
        </p:nvSpPr>
        <p:spPr>
          <a:xfrm>
            <a:off x="914400" y="3172968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fast efficiency decays as more nodes are added (</a:t>
            </a:r>
            <a:r>
              <a:rPr lang="en-US" sz="95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gloo</a:t>
            </a: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backend communication cost):</a:t>
            </a:r>
            <a:endParaRPr lang="en-US" sz="95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4FFA7450-5CA1-810F-FD02-C43ABB07FF2F}"/>
              </a:ext>
            </a:extLst>
          </p:cNvPr>
          <p:cNvSpPr/>
          <p:nvPr/>
        </p:nvSpPr>
        <p:spPr>
          <a:xfrm>
            <a:off x="3429000" y="2916936"/>
            <a:ext cx="5257800" cy="740664"/>
          </a:xfrm>
          <a:prstGeom prst="rect">
            <a:avLst/>
          </a:prstGeom>
          <a:solidFill>
            <a:srgbClr val="FFFFFF"/>
          </a:solidFill>
          <a:ln w="63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6A4A122F-60A3-9C4D-1E4B-E430D3CC773C}"/>
              </a:ext>
            </a:extLst>
          </p:cNvPr>
          <p:cNvSpPr/>
          <p:nvPr/>
        </p:nvSpPr>
        <p:spPr>
          <a:xfrm>
            <a:off x="3520440" y="2935224"/>
            <a:ext cx="5074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distinct N  →  alpha = 0   (linear scaling assumed)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distinct N  →  </a:t>
            </a:r>
            <a:r>
              <a:rPr lang="en-US" sz="850" dirty="0" err="1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observed_eta</a:t>
            </a:r>
            <a:r>
              <a:rPr lang="en-US" sz="85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(P2/n2)/(P1/n1)   // actual parallel efficiency</a:t>
            </a:r>
            <a:endParaRPr lang="en-US" sz="850" dirty="0"/>
          </a:p>
          <a:p>
            <a:r>
              <a:rPr lang="en-US" sz="85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→  alpha = (1 - </a:t>
            </a:r>
            <a:r>
              <a:rPr lang="en-US" sz="850" dirty="0" err="1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observed_eta</a:t>
            </a:r>
            <a:r>
              <a:rPr lang="en-US" sz="85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) / (</a:t>
            </a:r>
            <a:r>
              <a:rPr lang="en-US" sz="850" dirty="0" err="1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observed_eta</a:t>
            </a:r>
            <a:r>
              <a:rPr lang="en-US" sz="85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 (n2-n1))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3+ distinct N →  argmin_alpha  sum[ (P(n) - p0*n*eta(n,alpha))^2 ]</a:t>
            </a:r>
            <a:endParaRPr lang="en-US" sz="85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9AF94911-02BE-007A-7C3A-777DE76B9810}"/>
              </a:ext>
            </a:extLst>
          </p:cNvPr>
          <p:cNvSpPr/>
          <p:nvPr/>
        </p:nvSpPr>
        <p:spPr>
          <a:xfrm>
            <a:off x="320040" y="3767328"/>
            <a:ext cx="8503920" cy="850392"/>
          </a:xfrm>
          <a:prstGeom prst="rect">
            <a:avLst/>
          </a:prstGeom>
          <a:solidFill>
            <a:srgbClr val="DBEAFE"/>
          </a:solidFill>
          <a:ln w="63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D3BEFAD1-78B9-5641-C09D-BA639DC9DA84}"/>
              </a:ext>
            </a:extLst>
          </p:cNvPr>
          <p:cNvSpPr/>
          <p:nvPr/>
        </p:nvSpPr>
        <p:spPr>
          <a:xfrm>
            <a:off x="320040" y="3767328"/>
            <a:ext cx="502920" cy="85039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C1AFCD22-10B3-B6C4-56B7-0F5268A8E747}"/>
              </a:ext>
            </a:extLst>
          </p:cNvPr>
          <p:cNvSpPr/>
          <p:nvPr/>
        </p:nvSpPr>
        <p:spPr>
          <a:xfrm>
            <a:off x="320040" y="3767328"/>
            <a:ext cx="502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9F29E840-14C9-6F00-29C6-8FCB2F35E882}"/>
              </a:ext>
            </a:extLst>
          </p:cNvPr>
          <p:cNvSpPr/>
          <p:nvPr/>
        </p:nvSpPr>
        <p:spPr>
          <a:xfrm>
            <a:off x="914400" y="382219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T(n) and Cost(n), then select N</a:t>
            </a:r>
            <a:endParaRPr lang="en-US" sz="11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6656AA96-0E41-2FFA-F38A-550D41F423FF}"/>
              </a:ext>
            </a:extLst>
          </p:cNvPr>
          <p:cNvSpPr/>
          <p:nvPr/>
        </p:nvSpPr>
        <p:spPr>
          <a:xfrm>
            <a:off x="914400" y="4078224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candidate n compute predicted time and cost, then pick the smallest n that meets the Objective:</a:t>
            </a:r>
            <a:endParaRPr lang="en-US" sz="95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FBAB2436-2271-DBDE-CDD1-83F75C5719BF}"/>
              </a:ext>
            </a:extLst>
          </p:cNvPr>
          <p:cNvSpPr/>
          <p:nvPr/>
        </p:nvSpPr>
        <p:spPr>
          <a:xfrm>
            <a:off x="3429000" y="3822192"/>
            <a:ext cx="5257800" cy="740664"/>
          </a:xfrm>
          <a:prstGeom prst="rect">
            <a:avLst/>
          </a:prstGeom>
          <a:solidFill>
            <a:srgbClr val="FFFFFF"/>
          </a:solidFill>
          <a:ln w="63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B7C0C8B5-2543-DDF8-3BCC-29E64E82AA5E}"/>
              </a:ext>
            </a:extLst>
          </p:cNvPr>
          <p:cNvSpPr/>
          <p:nvPr/>
        </p:nvSpPr>
        <p:spPr>
          <a:xfrm>
            <a:off x="3520440" y="3840480"/>
            <a:ext cx="5074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eta(n) = 1/(1+alpha*(n-1))   predicted parallel efficiency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P(n)   = p0*n*eta(n)         predicted throughput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T(n)   = W/P(n)              predicted training time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Cost(n)   = C_h*n*(T(n)+T_prov)/3600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Select: smallest n  where  T(n)&lt;=targetTime  AND  Cost(n)&lt;=maxCost</a:t>
            </a:r>
            <a:endParaRPr lang="en-US" sz="85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F3DE5BCD-E516-5286-F1CB-3F21803D5CCE}"/>
              </a:ext>
            </a:extLst>
          </p:cNvPr>
          <p:cNvSpPr/>
          <p:nvPr/>
        </p:nvSpPr>
        <p:spPr>
          <a:xfrm>
            <a:off x="8503920" y="48463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6454845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452</TotalTime>
  <Words>1904</Words>
  <Application>Microsoft Office PowerPoint</Application>
  <PresentationFormat>On-screen Show (16:9)</PresentationFormat>
  <Paragraphs>260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Distributed Job Operator vs Manual Workflow</dc:title>
  <dc:subject>PptxGenJS Presentation</dc:subject>
  <dc:creator>PptxGenJS</dc:creator>
  <cp:lastModifiedBy>Jon Mukaj</cp:lastModifiedBy>
  <cp:revision>185</cp:revision>
  <dcterms:created xsi:type="dcterms:W3CDTF">2026-06-04T21:30:56Z</dcterms:created>
  <dcterms:modified xsi:type="dcterms:W3CDTF">2026-06-21T23:03:51Z</dcterms:modified>
</cp:coreProperties>
</file>